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2cbab25-40d4-6728-cfd0-f14892b3a306}">
          <p14:sldIdLst>
            <p14:sldId id="256"/>
            <p14:sldId id="257"/>
            <p14:sldId id="258"/>
          </p14:sldIdLst>
        </p14:section>
        <p14:section name="Approach" id="{ac957c50-be2f-e00d-cbef-f3af818b7f54}">
          <p14:sldIdLst>
            <p14:sldId id="259"/>
            <p14:sldId id="260"/>
            <p14:sldId id="261"/>
            <p14:sldId id="262"/>
          </p14:sldIdLst>
        </p14:section>
        <p14:section name="Results" id="{36c8dde5-e19a-a789-f1a0-a83026aefb61}">
          <p14:sldIdLst>
            <p14:sldId id="263"/>
            <p14:sldId id="264"/>
            <p14:sldId id="265"/>
            <p14:sldId id="266"/>
            <p14:sldId id="267"/>
          </p14:sldIdLst>
        </p14:section>
        <p14:section name="Demo and conclusion" id="{69ad53b3-e4f5-c5d1-ae82-0f04d7325004}">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2E1B"/>
                </a:solidFill>
                <a:latin typeface="+mn-lt"/>
              </a:defRPr>
            </a:pPr>
            <a:r>
              <a:rPr sz="1400" b="0" i="0" u="none" strike="noStrike">
                <a:solidFill>
                  <a:srgbClr val="1A2E1B"/>
                </a:solidFill>
                <a:latin typeface="+mn-lt"/>
              </a:rPr>
              <a:t>PR-AUC on held-out 2013-2014</a:t>
            </a:r>
          </a:p>
        </c:rich>
      </c:tx>
      <c:layout/>
      <c:overlay val="0"/>
    </c:title>
    <c:autoTitleDeleted val="0"/>
    <c:plotArea>
      <c:layout/>
      <c:barChart>
        <c:barDir val="bar"/>
        <c:grouping val="clustered"/>
        <c:varyColors val="0"/>
        <c:ser>
          <c:idx val="0"/>
          <c:order val="0"/>
          <c:tx>
            <c:strRef>
              <c:f>Sheet1!$B$1</c:f>
              <c:strCache>
                <c:ptCount val="1"/>
                <c:pt idx="0">
                  <c:v>PR-AUC</c:v>
                </c:pt>
              </c:strCache>
            </c:strRef>
          </c:tx>
          <c:spPr>
            <a:solidFill>
              <a:srgbClr val="2C5F2D"/>
            </a:solidFill>
            <a:effectLst/>
          </c:spPr>
          <c:invertIfNegative val="0"/>
          <c:dLbls>
            <c:numFmt formatCode="0.000" sourceLinked="0"/>
            <c:txPr>
              <a:bodyPr/>
              <a:lstStyle/>
              <a:p>
                <a:pPr>
                  <a:defRPr b="0" i="0" strike="noStrike" sz="1100" u="none">
                    <a:solidFill>
                      <a:srgbClr val="1A2E1B"/>
                    </a:solidFill>
                    <a:latin typeface="+mn-lt"/>
                  </a:defRPr>
                </a:pPr>
              </a:p>
            </c:txPr>
            <c:showLegendKey val="0"/>
            <c:showVal val="1"/>
            <c:showCatName val="0"/>
            <c:showSerName val="0"/>
            <c:showPercent val="0"/>
            <c:showBubbleSize val="0"/>
            <c:showLeaderLines val="0"/>
          </c:dLbls>
          <c:cat>
            <c:multiLvlStrRef>
              <c:f>Sheet1!$A$2:$A$9</c:f>
              <c:multiLvlStrCache>
                <c:ptCount val="8"/>
                <c:lvl>
                  <c:pt idx="0">
                    <c:v>Random</c:v>
                  </c:pt>
                  <c:pt idx="1">
                    <c:v>Listing rule</c:v>
                  </c:pt>
                  <c:pt idx="2">
                    <c:v>Unsupervised only</c:v>
                  </c:pt>
                  <c:pt idx="3">
                    <c:v>Logistic Regression*</c:v>
                  </c:pt>
                  <c:pt idx="4">
                    <c:v>Random Forest*</c:v>
                  </c:pt>
                  <c:pt idx="5">
                    <c:v>XGBoost (transfer)</c:v>
                  </c:pt>
                  <c:pt idx="6">
                    <c:v>Hybrid (transfer)</c:v>
                  </c:pt>
                  <c:pt idx="7">
                    <c:v>Hybrid (full)*</c:v>
                  </c:pt>
                </c:lvl>
              </c:multiLvlStrCache>
            </c:multiLvlStrRef>
          </c:cat>
          <c:val>
            <c:numRef>
              <c:f>Sheet1!$B$2:$B$9</c:f>
              <c:numCache>
                <c:formatCode>General</c:formatCode>
                <c:ptCount val="8"/>
                <c:pt idx="0">
                  <c:v>0.016</c:v>
                </c:pt>
                <c:pt idx="1">
                  <c:v>0.024</c:v>
                </c:pt>
                <c:pt idx="2">
                  <c:v>0.05</c:v>
                </c:pt>
                <c:pt idx="3">
                  <c:v>0.44</c:v>
                </c:pt>
                <c:pt idx="4">
                  <c:v>0.548</c:v>
                </c:pt>
                <c:pt idx="5">
                  <c:v>0.588</c:v>
                </c:pt>
                <c:pt idx="6">
                  <c:v>0.599</c:v>
                </c:pt>
                <c:pt idx="7">
                  <c:v>0.624</c:v>
                </c:pt>
              </c:numCache>
            </c:numRef>
          </c:val>
        </c:ser>
        <c:dLbls>
          <c:numFmt formatCode="0.000" sourceLinked="0"/>
          <c:txPr>
            <a:bodyPr/>
            <a:lstStyle/>
            <a:p>
              <a:pPr>
                <a:defRPr b="0" i="0" strike="noStrike" sz="1100" u="none">
                  <a:solidFill>
                    <a:srgbClr val="1A2E1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45645"/>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2E1B"/>
                </a:solidFill>
                <a:latin typeface="+mn-lt"/>
              </a:defRPr>
            </a:pPr>
            <a:r>
              <a:rPr sz="1400" b="0" i="0" u="none" strike="noStrike">
                <a:solidFill>
                  <a:srgbClr val="1A2E1B"/>
                </a:solidFill>
                <a:latin typeface="+mn-lt"/>
              </a:rPr>
              <a:t>PR-AUC on held-out Asia shipments</a:t>
            </a:r>
          </a:p>
        </c:rich>
      </c:tx>
      <c:layout/>
      <c:overlay val="0"/>
    </c:title>
    <c:autoTitleDeleted val="0"/>
    <c:plotArea>
      <c:layout/>
      <c:barChart>
        <c:barDir val="bar"/>
        <c:grouping val="clustered"/>
        <c:varyColors val="0"/>
        <c:ser>
          <c:idx val="0"/>
          <c:order val="0"/>
          <c:tx>
            <c:strRef>
              <c:f>Sheet1!$B$1</c:f>
              <c:strCache>
                <c:ptCount val="1"/>
                <c:pt idx="0">
                  <c:v>PR-AUC</c:v>
                </c:pt>
              </c:strCache>
            </c:strRef>
          </c:tx>
          <c:spPr>
            <a:solidFill>
              <a:srgbClr val="2C5F2D"/>
            </a:solidFill>
            <a:effectLst/>
          </c:spPr>
          <c:invertIfNegative val="0"/>
          <c:dLbls>
            <c:numFmt formatCode="0.000" sourceLinked="0"/>
            <c:txPr>
              <a:bodyPr/>
              <a:lstStyle/>
              <a:p>
                <a:pPr>
                  <a:defRPr b="0" i="0" strike="noStrike" sz="1100" u="none">
                    <a:solidFill>
                      <a:srgbClr val="1A2E1B"/>
                    </a:solidFill>
                    <a:latin typeface="+mn-lt"/>
                  </a:defRPr>
                </a:pPr>
              </a:p>
            </c:txPr>
            <c:showLegendKey val="0"/>
            <c:showVal val="1"/>
            <c:showCatName val="0"/>
            <c:showSerName val="0"/>
            <c:showPercent val="0"/>
            <c:showBubbleSize val="0"/>
            <c:showLeaderLines val="0"/>
          </c:dLbls>
          <c:cat>
            <c:multiLvlStrRef>
              <c:f>Sheet1!$A$2:$A$8</c:f>
              <c:multiLvlStrCache>
                <c:ptCount val="7"/>
                <c:lvl>
                  <c:pt idx="0">
                    <c:v>In-domain reference</c:v>
                  </c:pt>
                  <c:pt idx="1">
                    <c:v>Naive transfer</c:v>
                  </c:pt>
                  <c:pt idx="2">
                    <c:v>Re-normalised norms</c:v>
                  </c:pt>
                  <c:pt idx="3">
                    <c:v>Importance-weighted</c:v>
                  </c:pt>
                  <c:pt idx="4">
                    <c:v>+1% target labels</c:v>
                  </c:pt>
                  <c:pt idx="5">
                    <c:v>+5% target labels</c:v>
                  </c:pt>
                  <c:pt idx="6">
                    <c:v>Target oracle (all labels)</c:v>
                  </c:pt>
                </c:lvl>
              </c:multiLvlStrCache>
            </c:multiLvlStrRef>
          </c:cat>
          <c:val>
            <c:numRef>
              <c:f>Sheet1!$B$2:$B$8</c:f>
              <c:numCache>
                <c:formatCode>General</c:formatCode>
                <c:ptCount val="7"/>
                <c:pt idx="0">
                  <c:v>0.592</c:v>
                </c:pt>
                <c:pt idx="1">
                  <c:v>0.539</c:v>
                </c:pt>
                <c:pt idx="2">
                  <c:v>0.528</c:v>
                </c:pt>
                <c:pt idx="3">
                  <c:v>0.546</c:v>
                </c:pt>
                <c:pt idx="4">
                  <c:v>0.542</c:v>
                </c:pt>
                <c:pt idx="5">
                  <c:v>0.582</c:v>
                </c:pt>
                <c:pt idx="6">
                  <c:v>0.616</c:v>
                </c:pt>
              </c:numCache>
            </c:numRef>
          </c:val>
        </c:ser>
        <c:dLbls>
          <c:numFmt formatCode="0.000" sourceLinked="0"/>
          <c:txPr>
            <a:bodyPr/>
            <a:lstStyle/>
            <a:p>
              <a:pPr>
                <a:defRPr b="0" i="0" strike="noStrike" sz="1100" u="none">
                  <a:solidFill>
                    <a:srgbClr val="1A2E1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45645"/>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2E1B"/>
                </a:solidFill>
                <a:latin typeface="+mn-lt"/>
              </a:defRPr>
            </a:pPr>
            <a:r>
              <a:rPr sz="1400" b="0" i="0" u="none" strike="noStrike">
                <a:solidFill>
                  <a:srgbClr val="1A2E1B"/>
                </a:solidFill>
                <a:latin typeface="+mn-lt"/>
              </a:rPr>
              <a:t>Records in the priority tier, by product form (uniform = 1%)</a:t>
            </a:r>
          </a:p>
        </c:rich>
      </c:tx>
      <c:layout/>
      <c:overlay val="0"/>
    </c:title>
    <c:autoTitleDeleted val="0"/>
    <c:plotArea>
      <c:layout/>
      <c:barChart>
        <c:barDir val="bar"/>
        <c:grouping val="clustered"/>
        <c:varyColors val="0"/>
        <c:ser>
          <c:idx val="0"/>
          <c:order val="0"/>
          <c:tx>
            <c:strRef>
              <c:f>Sheet1!$B$1</c:f>
              <c:strCache>
                <c:ptCount val="1"/>
                <c:pt idx="0">
                  <c:v>Priority share</c:v>
                </c:pt>
              </c:strCache>
            </c:strRef>
          </c:tx>
          <c:spPr>
            <a:solidFill>
              <a:srgbClr val="2C5F2D"/>
            </a:solidFill>
            <a:effectLst/>
          </c:spPr>
          <c:invertIfNegative val="0"/>
          <c:dLbls>
            <c:numFmt formatCode="0.0&quot;%&quot;" sourceLinked="0"/>
            <c:txPr>
              <a:bodyPr/>
              <a:lstStyle/>
              <a:p>
                <a:pPr>
                  <a:defRPr b="0" i="0" strike="noStrike" sz="1100" u="none">
                    <a:solidFill>
                      <a:srgbClr val="1A2E1B"/>
                    </a:solidFill>
                    <a:latin typeface="+mn-lt"/>
                  </a:defRPr>
                </a:pPr>
              </a:p>
            </c:txPr>
            <c:showLegendKey val="0"/>
            <c:showVal val="1"/>
            <c:showCatName val="0"/>
            <c:showSerName val="0"/>
            <c:showPercent val="0"/>
            <c:showBubbleSize val="0"/>
            <c:showLeaderLines val="0"/>
          </c:dLbls>
          <c:cat>
            <c:multiLvlStrRef>
              <c:f>Sheet1!$A$2:$A$9</c:f>
              <c:multiLvlStrCache>
                <c:ptCount val="8"/>
                <c:lvl>
                  <c:pt idx="0">
                    <c:v>horn</c:v>
                  </c:pt>
                  <c:pt idx="1">
                    <c:v>shells</c:v>
                  </c:pt>
                  <c:pt idx="2">
                    <c:v>ivory</c:v>
                  </c:pt>
                  <c:pt idx="3">
                    <c:v>teeth claws</c:v>
                  </c:pt>
                  <c:pt idx="4">
                    <c:v>bone</c:v>
                  </c:pt>
                  <c:pt idx="5">
                    <c:v>carvings jewellery</c:v>
                  </c:pt>
                  <c:pt idx="6">
                    <c:v>coral raw</c:v>
                  </c:pt>
                  <c:pt idx="7">
                    <c:v>meat</c:v>
                  </c:pt>
                </c:lvl>
              </c:multiLvlStrCache>
            </c:multiLvlStrRef>
          </c:cat>
          <c:val>
            <c:numRef>
              <c:f>Sheet1!$B$2:$B$9</c:f>
              <c:numCache>
                <c:formatCode>General</c:formatCode>
                <c:ptCount val="8"/>
                <c:pt idx="0">
                  <c:v>53.83</c:v>
                </c:pt>
                <c:pt idx="1">
                  <c:v>35.22</c:v>
                </c:pt>
                <c:pt idx="2">
                  <c:v>35.12</c:v>
                </c:pt>
                <c:pt idx="3">
                  <c:v>30.31</c:v>
                </c:pt>
                <c:pt idx="4">
                  <c:v>28.73</c:v>
                </c:pt>
                <c:pt idx="5">
                  <c:v>16.11</c:v>
                </c:pt>
                <c:pt idx="6">
                  <c:v>9.35</c:v>
                </c:pt>
                <c:pt idx="7">
                  <c:v>7.87</c:v>
                </c:pt>
              </c:numCache>
            </c:numRef>
          </c:val>
        </c:ser>
        <c:dLbls>
          <c:numFmt formatCode="0.0&quot;%&quot;" sourceLinked="0"/>
          <c:txPr>
            <a:bodyPr/>
            <a:lstStyle/>
            <a:p>
              <a:pPr>
                <a:defRPr b="0" i="0" strike="noStrike" sz="1100" u="none">
                  <a:solidFill>
                    <a:srgbClr val="1A2E1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45645"/>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we are Group 37 and this is WildGuard. In one sentence: WildGuard takes what US wildlife inspectors actually decided about 5.5 million import declarations, learns the patterns that preceded enforcement action, and uses them to rank the much larger, unlabelled global CITES trade database so that human reviewers know where to look first. Over the next twelve minutes we will cover the problem, how our direction changed after the first presentation, the system we built, how well it works on held-out data, how it behaves when applied to CITES, a short demo, and its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a pattern-recognition problem? First, scale: the CITES Trade Database we downloaded holds over 29 million trade records since 1975, and about 800 thousand new animal-trade records arrive every year. No team can review them one by one. Second, the risk signal is rarely in a single field. It sits in combinations: species, product form, quantity, purpose, source and route, relative to what is normal for that species. That is exactly what pattern recognition is good at. Third, the need is officially recognised: the CITES Secretariat and the World Customs Organization developed guidance on risk assessment and inspections for CITES trade controls, taken forward at CoP20 in December 2025, but risk targeting is still done largely by hand, officer by officer.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first presentation we explained why we dropped our original proposal, which fused CITES records with pangolin images. Briefly: the image stream covered one species while the records covered all of them, so missing images would have distorted scores; it would mostly have re-discovered what is already known; and the image data was never accessible - the dataset request went unanswered and synthetic augmentation would have created a synthetic-to-real gap. The new direction keeps one modality, structured trade records, and uses two large, real, freely available datasets that complement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LEMIS is the US Fish and Wildlife Service's record of every wildlife import declaration: 5.5 million line items from 2000 to 2014, each with what inspectors actually did - cleared, refused, seized, abandoned or re-exported. That gives us labels, but only for the United States. CITES covers every country but has no enforcement labels; the illegal-trade database is access-restricted. The two complement each other's gap, and because the US builds its CITES reports from the same kind of declarations, their codes line up. WildGuard learns on LEMIS and applies what it learned to CITES.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Schema alignment is our knowledge-modelling step. LEMIS writes product forms as three-letter codes, CITES as English terms; units differ; LEMIS has no CITES appendix. We built a crosswalk into 31 shared product groups and six unit groups, converted quantities, and looked up each LEMIS taxon's CITES appendix. Source and purpose codes are identical letter codes in both. To check the alignment we trained a classifier to tell LEMIS records from the records the US itself reported to CITES for the same years. Its AUC was 0.771 for CITES-listed taxa, against 0.967 for global CITES trade - so the mapping is consistent, and the remaining difference is real distribution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system. The top lane is LEMIS, where everything is trained and evaluated with real labels. Records are aligned, then described by relative features - how far a record sits from the norm for its own peer group of genus, product and unit, and how rare its route, purpose and source are. An XGBoost model learns from outcomes; three unsupervised detectors - a peer-deviation score, an Isolation Forest and K-Means distance - score anomalies without labels; a stacked meta-learner combines all four. The bottom lane is CITES. The same mapping is applied, peer norms are re-learned from CITES itself, the trained model and combiner weights are transferred, the label-free detectors are re-fitted on CITES, and every record is ranked into review tiers with plain-language reasons.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module asks for at least three of four aspects. We fully cover three of them, and add a sense-making layer on top. Supervised and unsupervised learning: XGBoost, Random Forest and Logistic Regression on outcomes, plus three label-free detectors. Machine-learning techniques: gradient boosting, bagging, clustering with silhouette-based model selection, and isolation-based outlier detection. Hybrid and ensemble: the tree ensembles themselves, and a stacked meta-learner that combines supervised and unsupervised evidence. Sense-making: turning scores into decisions a person can act on - TreeSHAP explanations on every flag, confidence-aware triage bands, and risk-pattern analytics.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only LEMIS has ground truth, the rigorous test happens there. We trained on 2000 to 2010, tuned on 2011 and 2012, and scored 2013 and 2014, which the system had never seen. Accuracy would be meaningless here: only 1.6 percent of test line items were enforcement cases, so clearing everything scores 98 percent. Instead we ask an inspector's question. If you can only inspect the top 5 percent, WildGuard catches 70% of the real enforcement cases, versus 5 percent at random. Among its top 1 percent of flags, 79% were real cases. To catch 80 percent of cases you inspect 13% of shipments instead of 80 percent. And this is the transfer model - it uses only fields CITES also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curve is the usability argument. The x-axis is how much of the flow you inspect, highest score first; the y-axis is the share of real enforcement cases you catch. WildGuard in blue climbs steeply; the grey diagonal is random inspection; the green line is the obvious manual rule - inspect the most endangered, wild-caught species first - which barely beats random. On the right are confidence-aware bands with thresholds fixed on the validation years: 56% of shipments could be auto-cleared while missing only 7% of cases, and a priority band of 2% of shipments holds 60% of all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combining supervised and unsupervised evidence help? On the same held-out years, the unsupervised detectors alone reach a PR-AUC of 0.050 - about three times random, but far from useful on their own, because a lot of perfectly legal trade is unusual. The supervised model alone reaches 0.588, and the stacked hybrid 0.599. The gain is modest but consistent, and it appears in both the transfer and full variants. The meta-learner gives the Isolation Forest the largest anomaly weight. XGBoost also clearly beat Random Forest and Logistic Regression.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CITES has no labels, so we cannot score transfer to CITES directly. Instead we simulated it inside LEMIS: we trained without any shipments exported from Asia, then tested on held-out Asia shipments. In-domain the model reaches 0.592. Naive transfer to the unseen region drops to 0.539. Re-learning the peer norms from unlabelled target data - exactly what we do for CITES - gives 0.528. Importance weighting gives 0.546. Adding just 1 percent of target labels gives 0.542, and a model trained on all target labels reaches 0.616. Importance weighting looked best in this simulation, but on held-out LEMIS records of CITES-listed species - the records most like CITES - it lowered PR-AUC from 0.630 to 0.600, so the deployed model is unweighted. The lesson: a few real target labels beat any label-free adaptation trick.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scored 8.25 million CITES animal-trade records. Records already marked as confiscated were set aside - flagging what has already been seized adds nothing - and the rest were ranked each year into tiers: priority is the top 1 percent, review the next 4 percent. On the left is where the priority tier concentrates by product form: horn, shells, ivory, teeth and bone. Without labels we make no accuracy claim here; instead we ran two independent checks. First, against UNODC's World Wildlife Crime Report 2024: species groups that are over-represented in global seizures relative to their legal trade should be flagged more often - the rank correlation is 0.864 with p of 0.0001. Second, CITES marks confiscated specimens with source code I. A version of the model that never sees the source field still ranks those records higher than the rest, with an AUC of 0.874.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a short demo of the MVP, a Streamlit app. The review queue lists CITES records ranked for review; selecting one opens a flag card with the record, the reasons it was flagged, and the four signals behind the score. The 'Check a shipment' page scores any record - here the real Indian star tortoise case from LEMIS: two live wild tortoises declared as a personal import from Malaysia at 400 dollars each, where 99 percent of comparable imports were commercial lots of around ten animals at a median of 35 dollars each. It was seized. The 'Does it work?' page lets you move an inspection budget and see how many real cases you would catch.  [Switch to the live app for the demo segment.]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honest limitations. First, a flag is not evidence of crime: our labels are enforcement outcomes, which include paperwork refusals, and absolute probabilities do not carry over to CITES, so there we rank by budget. Second, LEMIS ends in 2014 and reflects US enforcement priorities. Third, half of LEMIS cases are personal imports, while CITES is mostly commercial; on commercial shipments alone the model is weaker. Fourth, country features can encode where enforcement has looked before, so flags must stay a prompt for human review, never an automatic decision. Some labels reflect US law rather than CITES rules: marine-mammal products are refused ten times more often in LEMIS, consistent with the US Marine Mammal Protection Act, and the model carries that into trade between other countries where it may be lawful. Finally, the full model may slightly overstate performance because a zero declared value is more common in refused shipments; the deployed transfer model does not use value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Enforcement knowledge does transfer: using only fields CITES also has, inspecting five percent of held-out shipments catches 70% of real enforcement cases. Combining supervised and unsupervised evidence helps a little, and every learned model beats the obvious manual rule by a wide margin. The enabling step was unglamorous - aligning two public datasets so they speak one language. On CITES, where no labels exist, the ranking is directionally consistent with independent seizure statistics, which is the honest claim we can make: WildGuard is a triage aid for human reviewers, not a verdict. Next steps would be a small labelled sample from a CITES authority, newer LEMIS data, reporting mismatches as an extra signal, and a feedback loop from analysts.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WildGuard Content">
    <p:bg>
      <p:bgPr>
        <a:solidFill>
          <a:srgbClr val="E7F0E1"/>
        </a:solidFill>
      </p:bgPr>
    </p:bg>
    <p:spTree>
      <p:nvGrpSpPr>
        <p:cNvPr id="1" name=""/>
        <p:cNvGrpSpPr/>
        <p:nvPr/>
      </p:nvGrpSpPr>
      <p:grpSpPr>
        <a:xfrm>
          <a:off x="0" y="0"/>
          <a:ext cx="0" cy="0"/>
          <a:chOff x="0" y="0"/>
          <a:chExt cx="0" cy="0"/>
        </a:xfrm>
      </p:grpSpPr>
      <p:pic>
        <p:nvPicPr>
          <p:cNvPr id="2" name="Image 0" descr="/private/tmp/claude-503/-Users-adhithi-m-Desktop-Masters-Class-Notes---Review-1st-Year-Pattern-Recognition-Systems/3d956fe8-3803-4740-9b99-087bcc38d79c/scratchpad/deck/first_deck/ppt/media/image2.png">    </p:cNvPr>
          <p:cNvPicPr>
            <a:picLocks noChangeAspect="1"/>
          </p:cNvPicPr>
          <p:nvPr/>
        </p:nvPicPr>
        <p:blipFill>
          <a:blip r:embed="rId1">
            <a:alphaModFix amt="40000"/>
          </a:blip>
          <a:stretch>
            <a:fillRect/>
          </a:stretch>
        </p:blipFill>
        <p:spPr>
          <a:xfrm>
            <a:off x="11140135" y="347472"/>
            <a:ext cx="502920" cy="502920"/>
          </a:xfrm>
          <a:prstGeom prst="rect">
            <a:avLst/>
          </a:prstGeom>
        </p:spPr>
      </p:pic>
      <p:sp>
        <p:nvSpPr>
          <p:cNvPr id="3" name="Text 0"/>
          <p:cNvSpPr/>
          <p:nvPr>
            <p:ph idx="101" type="title" hasCustomPrompt="1"/>
          </p:nvPr>
        </p:nvSpPr>
        <p:spPr>
          <a:xfrm>
            <a:off x="548640" y="320040"/>
            <a:ext cx="10362895" cy="685800"/>
          </a:xfrm>
          <a:prstGeom prst="rect">
            <a:avLst/>
          </a:prstGeom>
          <a:noFill/>
          <a:ln/>
        </p:spPr>
        <p:txBody>
          <a:bodyPr wrap="square" rtlCol="0"/>
          <a:lstStyle>
            <a:lvl1pPr algn="l" indent="0" marL="0">
              <a:buNone/>
              <a:defRPr lang="en-US" sz="3000" b="1" dirty="0">
                <a:solidFill>
                  <a:srgbClr val="2C5F2D"/>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32301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6F"/>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WildGuard Dark">
    <p:bg>
      <p:bgPr>
        <a:solidFill>
          <a:srgbClr val="2C5F2D"/>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2301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6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2.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85800" y="640080"/>
            <a:ext cx="914400" cy="914400"/>
          </a:xfrm>
          <a:prstGeom prst="ellipse">
            <a:avLst/>
          </a:prstGeom>
          <a:solidFill>
            <a:srgbClr val="97BC62"/>
          </a:solidFill>
          <a:ln w="12700">
            <a:solidFill>
              <a:srgbClr val="97BC62"/>
            </a:solidFill>
            <a:prstDash val="solid"/>
          </a:ln>
        </p:spPr>
      </p:sp>
      <p:pic>
        <p:nvPicPr>
          <p:cNvPr id="3" name="Image 0" descr="/private/tmp/claude-503/-Users-adhithi-m-Desktop-Masters-Class-Notes---Review-1st-Year-Pattern-Recognition-Systems/3d956fe8-3803-4740-9b99-087bcc38d79c/scratchpad/deck/first_deck/ppt/media/image1.png">    </p:cNvPr>
          <p:cNvPicPr>
            <a:picLocks noChangeAspect="1"/>
          </p:cNvPicPr>
          <p:nvPr/>
        </p:nvPicPr>
        <p:blipFill>
          <a:blip r:embed="rId1"/>
          <a:stretch>
            <a:fillRect/>
          </a:stretch>
        </p:blipFill>
        <p:spPr>
          <a:xfrm>
            <a:off x="850392" y="804672"/>
            <a:ext cx="585216" cy="585216"/>
          </a:xfrm>
          <a:prstGeom prst="rect">
            <a:avLst/>
          </a:prstGeom>
        </p:spPr>
      </p:pic>
      <p:sp>
        <p:nvSpPr>
          <p:cNvPr id="4" name="Text 1"/>
          <p:cNvSpPr txBox="1"/>
          <p:nvPr/>
        </p:nvSpPr>
        <p:spPr>
          <a:xfrm>
            <a:off x="685800" y="1828800"/>
            <a:ext cx="8229600" cy="1005840"/>
          </a:xfrm>
          <a:prstGeom prst="rect">
            <a:avLst/>
          </a:prstGeom>
          <a:noFill/>
          <a:ln/>
        </p:spPr>
        <p:txBody>
          <a:bodyPr wrap="square" lIns="0" tIns="0" rIns="0" bIns="0" rtlCol="0" anchor="t"/>
          <a:lstStyle/>
          <a:p>
            <a:pPr indent="0" marL="0">
              <a:buNone/>
            </a:pPr>
            <a:r>
              <a:rPr lang="en-US" sz="6000" b="1" dirty="0">
                <a:solidFill>
                  <a:srgbClr val="FFFFFF"/>
                </a:solidFill>
                <a:latin typeface="Cambria" pitchFamily="34" charset="0"/>
                <a:ea typeface="Cambria" pitchFamily="34" charset="-122"/>
                <a:cs typeface="Cambria" pitchFamily="34" charset="-120"/>
              </a:rPr>
              <a:t>WildGuard</a:t>
            </a:r>
            <a:endParaRPr lang="en-US" sz="6000" dirty="0"/>
          </a:p>
        </p:txBody>
      </p:sp>
      <p:sp>
        <p:nvSpPr>
          <p:cNvPr id="5" name="Text 2"/>
          <p:cNvSpPr txBox="1"/>
          <p:nvPr/>
        </p:nvSpPr>
        <p:spPr>
          <a:xfrm>
            <a:off x="685800" y="2880360"/>
            <a:ext cx="10058400" cy="502920"/>
          </a:xfrm>
          <a:prstGeom prst="rect">
            <a:avLst/>
          </a:prstGeom>
          <a:noFill/>
          <a:ln/>
        </p:spPr>
        <p:txBody>
          <a:bodyPr wrap="square" lIns="0" tIns="0" rIns="0" bIns="0" rtlCol="0" anchor="t"/>
          <a:lstStyle/>
          <a:p>
            <a:pPr indent="0" marL="0">
              <a:buNone/>
            </a:pPr>
            <a:r>
              <a:rPr lang="en-US" sz="2200" i="1" dirty="0">
                <a:solidFill>
                  <a:srgbClr val="DCE7D2"/>
                </a:solidFill>
                <a:latin typeface="Calibri" pitchFamily="34" charset="0"/>
                <a:ea typeface="Calibri" pitchFamily="34" charset="-122"/>
                <a:cs typeface="Calibri" pitchFamily="34" charset="-120"/>
              </a:rPr>
              <a:t>Cross-dataset label transfer for wildlife-trade risk prioritisation</a:t>
            </a:r>
            <a:endParaRPr lang="en-US" sz="2200" dirty="0"/>
          </a:p>
        </p:txBody>
      </p:sp>
      <p:sp>
        <p:nvSpPr>
          <p:cNvPr id="6" name="Text 3"/>
          <p:cNvSpPr txBox="1"/>
          <p:nvPr/>
        </p:nvSpPr>
        <p:spPr>
          <a:xfrm>
            <a:off x="685800" y="3566160"/>
            <a:ext cx="10058400" cy="365760"/>
          </a:xfrm>
          <a:prstGeom prst="rect">
            <a:avLst/>
          </a:prstGeom>
          <a:noFill/>
          <a:ln/>
        </p:spPr>
        <p:txBody>
          <a:bodyPr wrap="square" lIns="0" tIns="0" rIns="0" bIns="0" rtlCol="0" anchor="t"/>
          <a:lstStyle/>
          <a:p>
            <a:pPr indent="0" marL="0">
              <a:buNone/>
            </a:pPr>
            <a:r>
              <a:rPr lang="en-US" sz="1300" spc="300" kern="0" dirty="0">
                <a:solidFill>
                  <a:srgbClr val="CFE0B8"/>
                </a:solidFill>
                <a:latin typeface="Calibri" pitchFamily="34" charset="0"/>
                <a:ea typeface="Calibri" pitchFamily="34" charset="-122"/>
                <a:cs typeface="Calibri" pitchFamily="34" charset="-120"/>
              </a:rPr>
              <a:t>GROUP 37   |   PRS PRACTICE MODULE   |   FINAL PRESENTATION</a:t>
            </a:r>
            <a:endParaRPr lang="en-US" sz="13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685800" y="4343400"/>
          <a:ext cx="6583680" cy="914400"/>
        </p:xfrm>
        <a:graphic>
          <a:graphicData uri="http://schemas.openxmlformats.org/drawingml/2006/table">
            <a:tbl>
              <a:tblPr/>
              <a:tblGrid>
                <a:gridCol w="4572000"/>
                <a:gridCol w="2011680"/>
              </a:tblGrid>
              <a:tr h="4114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Name</a:t>
                      </a:r>
                      <a:endParaRPr lang="en-US" sz="1400" dirty="0">
                        <a:latin typeface="Calibri" charset="0"/>
                        <a:ea typeface="Calibri" charset="0"/>
                        <a:cs typeface="Calibri" charset="0"/>
                      </a:endParaRPr>
                    </a:p>
                  </a:txBody>
                  <a:tcPr marL="91440" marR="91440" marT="45720" marB="45720" anchor="ctr">
                    <a:lnL w="12700" cap="flat" cmpd="sng" algn="ctr">
                      <a:solidFill>
                        <a:srgbClr val="2C5F2D"/>
                      </a:solidFill>
                      <a:prstDash val="solid"/>
                      <a:round/>
                      <a:headEnd type="none" w="med" len="med"/>
                      <a:tailEnd type="none" w="med" len="med"/>
                    </a:lnL>
                    <a:lnR w="12700" cap="flat" cmpd="sng" algn="ctr">
                      <a:solidFill>
                        <a:srgbClr val="2C5F2D"/>
                      </a:solidFill>
                      <a:prstDash val="solid"/>
                      <a:round/>
                      <a:headEnd type="none" w="med" len="med"/>
                      <a:tailEnd type="none" w="med" len="med"/>
                    </a:lnR>
                    <a:lnT w="12700" cap="flat" cmpd="sng" algn="ctr">
                      <a:solidFill>
                        <a:srgbClr val="2C5F2D"/>
                      </a:solidFill>
                      <a:prstDash val="solid"/>
                      <a:round/>
                      <a:headEnd type="none" w="med" len="med"/>
                      <a:tailEnd type="none" w="med" len="med"/>
                    </a:lnT>
                    <a:lnB w="12700" cap="flat" cmpd="sng" algn="ctr">
                      <a:solidFill>
                        <a:srgbClr val="2C5F2D"/>
                      </a:solidFill>
                      <a:prstDash val="solid"/>
                      <a:round/>
                      <a:headEnd type="none" w="med" len="med"/>
                      <a:tailEnd type="none" w="med" len="med"/>
                    </a:lnB>
                    <a:solidFill>
                      <a:srgbClr val="1A2E1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Student ID</a:t>
                      </a:r>
                      <a:endParaRPr lang="en-US" sz="1400" dirty="0">
                        <a:latin typeface="Calibri" charset="0"/>
                        <a:ea typeface="Calibri" charset="0"/>
                        <a:cs typeface="Calibri" charset="0"/>
                      </a:endParaRPr>
                    </a:p>
                  </a:txBody>
                  <a:tcPr marL="91440" marR="91440" marT="45720" marB="45720" anchor="ctr">
                    <a:lnL w="12700" cap="flat" cmpd="sng" algn="ctr">
                      <a:solidFill>
                        <a:srgbClr val="2C5F2D"/>
                      </a:solidFill>
                      <a:prstDash val="solid"/>
                      <a:round/>
                      <a:headEnd type="none" w="med" len="med"/>
                      <a:tailEnd type="none" w="med" len="med"/>
                    </a:lnL>
                    <a:lnR w="12700" cap="flat" cmpd="sng" algn="ctr">
                      <a:solidFill>
                        <a:srgbClr val="2C5F2D"/>
                      </a:solidFill>
                      <a:prstDash val="solid"/>
                      <a:round/>
                      <a:headEnd type="none" w="med" len="med"/>
                      <a:tailEnd type="none" w="med" len="med"/>
                    </a:lnR>
                    <a:lnT w="12700" cap="flat" cmpd="sng" algn="ctr">
                      <a:solidFill>
                        <a:srgbClr val="2C5F2D"/>
                      </a:solidFill>
                      <a:prstDash val="solid"/>
                      <a:round/>
                      <a:headEnd type="none" w="med" len="med"/>
                      <a:tailEnd type="none" w="med" len="med"/>
                    </a:lnT>
                    <a:lnB w="12700" cap="flat" cmpd="sng" algn="ctr">
                      <a:solidFill>
                        <a:srgbClr val="2C5F2D"/>
                      </a:solidFill>
                      <a:prstDash val="solid"/>
                      <a:round/>
                      <a:headEnd type="none" w="med" len="med"/>
                      <a:tailEnd type="none" w="med" len="med"/>
                    </a:lnB>
                    <a:solidFill>
                      <a:srgbClr val="1A2E1B"/>
                    </a:solidFill>
                  </a:tcPr>
                </a:tc>
              </a:tr>
              <a:tr h="411480">
                <a:tc>
                  <a:txBody>
                    <a:bodyPr/>
                    <a:lstStyle/>
                    <a:p>
                      <a:pPr indent="0" marL="0">
                        <a:buNone/>
                      </a:pPr>
                      <a:r>
                        <a:rPr lang="en-US" sz="1400" dirty="0">
                          <a:solidFill>
                            <a:srgbClr val="1A2E1B"/>
                          </a:solidFill>
                          <a:latin typeface="Calibri" pitchFamily="34" charset="0"/>
                          <a:ea typeface="Calibri" pitchFamily="34" charset="-122"/>
                          <a:cs typeface="Calibri" pitchFamily="34" charset="-120"/>
                        </a:rPr>
                        <a:t>Abinaya Muruganandam</a:t>
                      </a:r>
                      <a:endParaRPr lang="en-US" sz="1400" dirty="0">
                        <a:latin typeface="Calibri" charset="0"/>
                        <a:ea typeface="Calibri" charset="0"/>
                        <a:cs typeface="Calibri" charset="0"/>
                      </a:endParaRPr>
                    </a:p>
                  </a:txBody>
                  <a:tcPr marL="91440" marR="91440" marT="45720" marB="45720" anchor="ctr">
                    <a:lnL w="12700" cap="flat" cmpd="sng" algn="ctr">
                      <a:solidFill>
                        <a:srgbClr val="2C5F2D"/>
                      </a:solidFill>
                      <a:prstDash val="solid"/>
                      <a:round/>
                      <a:headEnd type="none" w="med" len="med"/>
                      <a:tailEnd type="none" w="med" len="med"/>
                    </a:lnL>
                    <a:lnR w="12700" cap="flat" cmpd="sng" algn="ctr">
                      <a:solidFill>
                        <a:srgbClr val="2C5F2D"/>
                      </a:solidFill>
                      <a:prstDash val="solid"/>
                      <a:round/>
                      <a:headEnd type="none" w="med" len="med"/>
                      <a:tailEnd type="none" w="med" len="med"/>
                    </a:lnR>
                    <a:lnT w="12700" cap="flat" cmpd="sng" algn="ctr">
                      <a:solidFill>
                        <a:srgbClr val="2C5F2D"/>
                      </a:solidFill>
                      <a:prstDash val="solid"/>
                      <a:round/>
                      <a:headEnd type="none" w="med" len="med"/>
                      <a:tailEnd type="none" w="med" len="med"/>
                    </a:lnT>
                    <a:lnB w="12700" cap="flat" cmpd="sng" algn="ctr">
                      <a:solidFill>
                        <a:srgbClr val="2C5F2D"/>
                      </a:solidFill>
                      <a:prstDash val="solid"/>
                      <a:round/>
                      <a:headEnd type="none" w="med" len="med"/>
                      <a:tailEnd type="none" w="med" len="med"/>
                    </a:lnB>
                    <a:solidFill>
                      <a:srgbClr val="DCE7D2"/>
                    </a:solidFill>
                  </a:tcPr>
                </a:tc>
                <a:tc>
                  <a:txBody>
                    <a:bodyPr/>
                    <a:lstStyle/>
                    <a:p>
                      <a:pPr indent="0" marL="0">
                        <a:buNone/>
                      </a:pPr>
                      <a:r>
                        <a:rPr lang="en-US" sz="1400" dirty="0">
                          <a:solidFill>
                            <a:srgbClr val="1A2E1B"/>
                          </a:solidFill>
                          <a:latin typeface="Calibri" pitchFamily="34" charset="0"/>
                          <a:ea typeface="Calibri" pitchFamily="34" charset="-122"/>
                          <a:cs typeface="Calibri" pitchFamily="34" charset="-120"/>
                        </a:rPr>
                        <a:t>A0181013X</a:t>
                      </a:r>
                      <a:endParaRPr lang="en-US" sz="1400" dirty="0">
                        <a:latin typeface="Calibri" charset="0"/>
                        <a:ea typeface="Calibri" charset="0"/>
                        <a:cs typeface="Calibri" charset="0"/>
                      </a:endParaRPr>
                    </a:p>
                  </a:txBody>
                  <a:tcPr marL="91440" marR="91440" marT="45720" marB="45720" anchor="ctr">
                    <a:lnL w="12700" cap="flat" cmpd="sng" algn="ctr">
                      <a:solidFill>
                        <a:srgbClr val="2C5F2D"/>
                      </a:solidFill>
                      <a:prstDash val="solid"/>
                      <a:round/>
                      <a:headEnd type="none" w="med" len="med"/>
                      <a:tailEnd type="none" w="med" len="med"/>
                    </a:lnL>
                    <a:lnR w="12700" cap="flat" cmpd="sng" algn="ctr">
                      <a:solidFill>
                        <a:srgbClr val="2C5F2D"/>
                      </a:solidFill>
                      <a:prstDash val="solid"/>
                      <a:round/>
                      <a:headEnd type="none" w="med" len="med"/>
                      <a:tailEnd type="none" w="med" len="med"/>
                    </a:lnR>
                    <a:lnT w="12700" cap="flat" cmpd="sng" algn="ctr">
                      <a:solidFill>
                        <a:srgbClr val="2C5F2D"/>
                      </a:solidFill>
                      <a:prstDash val="solid"/>
                      <a:round/>
                      <a:headEnd type="none" w="med" len="med"/>
                      <a:tailEnd type="none" w="med" len="med"/>
                    </a:lnT>
                    <a:lnB w="12700" cap="flat" cmpd="sng" algn="ctr">
                      <a:solidFill>
                        <a:srgbClr val="2C5F2D"/>
                      </a:solidFill>
                      <a:prstDash val="solid"/>
                      <a:round/>
                      <a:headEnd type="none" w="med" len="med"/>
                      <a:tailEnd type="none" w="med" len="med"/>
                    </a:lnB>
                    <a:solidFill>
                      <a:srgbClr val="DCE7D2"/>
                    </a:solidFill>
                  </a:tcPr>
                </a:tc>
              </a:tr>
              <a:tr h="411480">
                <a:tc>
                  <a:txBody>
                    <a:bodyPr/>
                    <a:lstStyle/>
                    <a:p>
                      <a:pPr indent="0" marL="0">
                        <a:buNone/>
                      </a:pPr>
                      <a:r>
                        <a:rPr lang="en-US" sz="1400" dirty="0">
                          <a:solidFill>
                            <a:srgbClr val="1A2E1B"/>
                          </a:solidFill>
                          <a:latin typeface="Calibri" pitchFamily="34" charset="0"/>
                          <a:ea typeface="Calibri" pitchFamily="34" charset="-122"/>
                          <a:cs typeface="Calibri" pitchFamily="34" charset="-120"/>
                        </a:rPr>
                        <a:t>Adhithi Muruganandam (Team Leader)</a:t>
                      </a:r>
                      <a:endParaRPr lang="en-US" sz="1400" dirty="0">
                        <a:latin typeface="Calibri" charset="0"/>
                        <a:ea typeface="Calibri" charset="0"/>
                        <a:cs typeface="Calibri" charset="0"/>
                      </a:endParaRPr>
                    </a:p>
                  </a:txBody>
                  <a:tcPr marL="91440" marR="91440" marT="45720" marB="45720" anchor="ctr">
                    <a:lnL w="12700" cap="flat" cmpd="sng" algn="ctr">
                      <a:solidFill>
                        <a:srgbClr val="2C5F2D"/>
                      </a:solidFill>
                      <a:prstDash val="solid"/>
                      <a:round/>
                      <a:headEnd type="none" w="med" len="med"/>
                      <a:tailEnd type="none" w="med" len="med"/>
                    </a:lnL>
                    <a:lnR w="12700" cap="flat" cmpd="sng" algn="ctr">
                      <a:solidFill>
                        <a:srgbClr val="2C5F2D"/>
                      </a:solidFill>
                      <a:prstDash val="solid"/>
                      <a:round/>
                      <a:headEnd type="none" w="med" len="med"/>
                      <a:tailEnd type="none" w="med" len="med"/>
                    </a:lnR>
                    <a:lnT w="12700" cap="flat" cmpd="sng" algn="ctr">
                      <a:solidFill>
                        <a:srgbClr val="2C5F2D"/>
                      </a:solidFill>
                      <a:prstDash val="solid"/>
                      <a:round/>
                      <a:headEnd type="none" w="med" len="med"/>
                      <a:tailEnd type="none" w="med" len="med"/>
                    </a:lnT>
                    <a:lnB w="12700" cap="flat" cmpd="sng" algn="ctr">
                      <a:solidFill>
                        <a:srgbClr val="2C5F2D"/>
                      </a:solidFill>
                      <a:prstDash val="solid"/>
                      <a:round/>
                      <a:headEnd type="none" w="med" len="med"/>
                      <a:tailEnd type="none" w="med" len="med"/>
                    </a:lnB>
                    <a:solidFill>
                      <a:srgbClr val="DCE7D2"/>
                    </a:solidFill>
                  </a:tcPr>
                </a:tc>
                <a:tc>
                  <a:txBody>
                    <a:bodyPr/>
                    <a:lstStyle/>
                    <a:p>
                      <a:pPr indent="0" marL="0">
                        <a:buNone/>
                      </a:pPr>
                      <a:r>
                        <a:rPr lang="en-US" sz="1400" dirty="0">
                          <a:solidFill>
                            <a:srgbClr val="1A2E1B"/>
                          </a:solidFill>
                          <a:latin typeface="Calibri" pitchFamily="34" charset="0"/>
                          <a:ea typeface="Calibri" pitchFamily="34" charset="-122"/>
                          <a:cs typeface="Calibri" pitchFamily="34" charset="-120"/>
                        </a:rPr>
                        <a:t>A0181014W</a:t>
                      </a:r>
                      <a:endParaRPr lang="en-US" sz="1400" dirty="0">
                        <a:latin typeface="Calibri" charset="0"/>
                        <a:ea typeface="Calibri" charset="0"/>
                        <a:cs typeface="Calibri" charset="0"/>
                      </a:endParaRPr>
                    </a:p>
                  </a:txBody>
                  <a:tcPr marL="91440" marR="91440" marT="45720" marB="45720" anchor="ctr">
                    <a:lnL w="12700" cap="flat" cmpd="sng" algn="ctr">
                      <a:solidFill>
                        <a:srgbClr val="2C5F2D"/>
                      </a:solidFill>
                      <a:prstDash val="solid"/>
                      <a:round/>
                      <a:headEnd type="none" w="med" len="med"/>
                      <a:tailEnd type="none" w="med" len="med"/>
                    </a:lnL>
                    <a:lnR w="12700" cap="flat" cmpd="sng" algn="ctr">
                      <a:solidFill>
                        <a:srgbClr val="2C5F2D"/>
                      </a:solidFill>
                      <a:prstDash val="solid"/>
                      <a:round/>
                      <a:headEnd type="none" w="med" len="med"/>
                      <a:tailEnd type="none" w="med" len="med"/>
                    </a:lnR>
                    <a:lnT w="12700" cap="flat" cmpd="sng" algn="ctr">
                      <a:solidFill>
                        <a:srgbClr val="2C5F2D"/>
                      </a:solidFill>
                      <a:prstDash val="solid"/>
                      <a:round/>
                      <a:headEnd type="none" w="med" len="med"/>
                      <a:tailEnd type="none" w="med" len="med"/>
                    </a:lnT>
                    <a:lnB w="12700" cap="flat" cmpd="sng" algn="ctr">
                      <a:solidFill>
                        <a:srgbClr val="2C5F2D"/>
                      </a:solidFill>
                      <a:prstDash val="solid"/>
                      <a:round/>
                      <a:headEnd type="none" w="med" len="med"/>
                      <a:tailEnd type="none" w="med" len="med"/>
                    </a:lnB>
                    <a:solidFill>
                      <a:srgbClr val="DCE7D2"/>
                    </a:solidFill>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0362895" cy="685800"/>
          </a:xfrm>
          <a:prstGeom prst="rect">
            <a:avLst/>
          </a:prstGeom>
          <a:noFill/>
          <a:ln/>
        </p:spPr>
        <p:txBody>
          <a:bodyPr wrap="square" lIns="0" tIns="0" rIns="0" bIns="0" rtlCol="0" anchor="ctr"/>
          <a:lstStyle/>
          <a:p>
            <a:pPr algn="l" indent="0" marL="0">
              <a:buNone/>
            </a:pPr>
            <a:r>
              <a:rPr lang="en-US" sz="3000" b="1" dirty="0">
                <a:solidFill>
                  <a:srgbClr val="2C5F2D"/>
                </a:solidFill>
                <a:latin typeface="Cambria" pitchFamily="34" charset="0"/>
                <a:ea typeface="Cambria" pitchFamily="34" charset="-122"/>
                <a:cs typeface="Cambria" pitchFamily="34" charset="-120"/>
              </a:rPr>
              <a:t>The problem: more trade than anyone can inspect</a:t>
            </a:r>
            <a:endParaRPr lang="en-US" sz="3000" dirty="0"/>
          </a:p>
        </p:txBody>
      </p:sp>
      <p:sp>
        <p:nvSpPr>
          <p:cNvPr id="4" name="Shape 1"/>
          <p:cNvSpPr/>
          <p:nvPr/>
        </p:nvSpPr>
        <p:spPr>
          <a:xfrm>
            <a:off x="685800" y="1417320"/>
            <a:ext cx="822960" cy="822960"/>
          </a:xfrm>
          <a:prstGeom prst="ellipse">
            <a:avLst/>
          </a:prstGeom>
          <a:solidFill>
            <a:srgbClr val="2C5F2D"/>
          </a:solidFill>
          <a:ln w="12700">
            <a:solidFill>
              <a:srgbClr val="2C5F2D"/>
            </a:solidFill>
            <a:prstDash val="solid"/>
          </a:ln>
        </p:spPr>
      </p:sp>
      <p:pic>
        <p:nvPicPr>
          <p:cNvPr id="5" name="Image 0" descr="/private/tmp/claude-503/-Users-adhithi-m-Desktop-Masters-Class-Notes---Review-1st-Year-Pattern-Recognition-Systems/3d956fe8-3803-4740-9b99-087bcc38d79c/scratchpad/deck/first_deck/ppt/media/image3.png">    </p:cNvPr>
          <p:cNvPicPr>
            <a:picLocks noChangeAspect="1"/>
          </p:cNvPicPr>
          <p:nvPr/>
        </p:nvPicPr>
        <p:blipFill>
          <a:blip r:embed="rId1"/>
          <a:stretch>
            <a:fillRect/>
          </a:stretch>
        </p:blipFill>
        <p:spPr>
          <a:xfrm>
            <a:off x="866851" y="1598371"/>
            <a:ext cx="460858" cy="460858"/>
          </a:xfrm>
          <a:prstGeom prst="rect">
            <a:avLst/>
          </a:prstGeom>
        </p:spPr>
      </p:pic>
      <p:sp>
        <p:nvSpPr>
          <p:cNvPr id="6" name="Text 2"/>
          <p:cNvSpPr txBox="1"/>
          <p:nvPr/>
        </p:nvSpPr>
        <p:spPr>
          <a:xfrm>
            <a:off x="1783080" y="1399032"/>
            <a:ext cx="9326880" cy="411480"/>
          </a:xfrm>
          <a:prstGeom prst="rect">
            <a:avLst/>
          </a:prstGeom>
          <a:noFill/>
          <a:ln/>
        </p:spPr>
        <p:txBody>
          <a:bodyPr wrap="square" lIns="0" tIns="0" rIns="0" bIns="0" rtlCol="0" anchor="t"/>
          <a:lstStyle/>
          <a:p>
            <a:pPr indent="0" marL="0">
              <a:buNone/>
            </a:pPr>
            <a:r>
              <a:rPr lang="en-US" sz="2000" b="1" dirty="0">
                <a:solidFill>
                  <a:srgbClr val="2C5F2D"/>
                </a:solidFill>
                <a:latin typeface="Cambria" pitchFamily="34" charset="0"/>
                <a:ea typeface="Cambria" pitchFamily="34" charset="-122"/>
                <a:cs typeface="Cambria" pitchFamily="34" charset="-120"/>
              </a:rPr>
              <a:t>Scale beyond manual review</a:t>
            </a:r>
            <a:endParaRPr lang="en-US" sz="2000" dirty="0"/>
          </a:p>
        </p:txBody>
      </p:sp>
      <p:sp>
        <p:nvSpPr>
          <p:cNvPr id="7" name="Text 3"/>
          <p:cNvSpPr txBox="1"/>
          <p:nvPr/>
        </p:nvSpPr>
        <p:spPr>
          <a:xfrm>
            <a:off x="1783080" y="1874520"/>
            <a:ext cx="9509760" cy="731520"/>
          </a:xfrm>
          <a:prstGeom prst="rect">
            <a:avLst/>
          </a:prstGeom>
          <a:noFill/>
          <a:ln/>
        </p:spPr>
        <p:txBody>
          <a:bodyPr wrap="square" lIns="0" tIns="0" rIns="0" bIns="0" rtlCol="0" anchor="t"/>
          <a:lstStyle/>
          <a:p>
            <a:pPr indent="0" marL="0">
              <a:buNone/>
            </a:pPr>
            <a:r>
              <a:rPr lang="en-US" sz="1500" dirty="0">
                <a:solidFill>
                  <a:srgbClr val="445645"/>
                </a:solidFill>
                <a:latin typeface="Calibri" pitchFamily="34" charset="0"/>
                <a:ea typeface="Calibri" pitchFamily="34" charset="-122"/>
                <a:cs typeface="Calibri" pitchFamily="34" charset="-120"/>
              </a:rPr>
              <a:t>CITES full download v2026.1: 29.2 million records since 1975; ~825 thousand animal records a year in 2015-2024.</a:t>
            </a:r>
            <a:endParaRPr lang="en-US" sz="1500" dirty="0"/>
          </a:p>
        </p:txBody>
      </p:sp>
      <p:sp>
        <p:nvSpPr>
          <p:cNvPr id="8" name="Shape 4"/>
          <p:cNvSpPr/>
          <p:nvPr/>
        </p:nvSpPr>
        <p:spPr>
          <a:xfrm>
            <a:off x="685800" y="3017520"/>
            <a:ext cx="822960" cy="822960"/>
          </a:xfrm>
          <a:prstGeom prst="ellipse">
            <a:avLst/>
          </a:prstGeom>
          <a:solidFill>
            <a:srgbClr val="2C5F2D"/>
          </a:solidFill>
          <a:ln w="12700">
            <a:solidFill>
              <a:srgbClr val="2C5F2D"/>
            </a:solidFill>
            <a:prstDash val="solid"/>
          </a:ln>
        </p:spPr>
      </p:sp>
      <p:pic>
        <p:nvPicPr>
          <p:cNvPr id="9" name="Image 1" descr="/private/tmp/claude-503/-Users-adhithi-m-Desktop-Masters-Class-Notes---Review-1st-Year-Pattern-Recognition-Systems/3d956fe8-3803-4740-9b99-087bcc38d79c/scratchpad/deck/first_deck/ppt/media/image4.png">    </p:cNvPr>
          <p:cNvPicPr>
            <a:picLocks noChangeAspect="1"/>
          </p:cNvPicPr>
          <p:nvPr/>
        </p:nvPicPr>
        <p:blipFill>
          <a:blip r:embed="rId2"/>
          <a:stretch>
            <a:fillRect/>
          </a:stretch>
        </p:blipFill>
        <p:spPr>
          <a:xfrm>
            <a:off x="866851" y="3198571"/>
            <a:ext cx="460858" cy="460858"/>
          </a:xfrm>
          <a:prstGeom prst="rect">
            <a:avLst/>
          </a:prstGeom>
        </p:spPr>
      </p:pic>
      <p:sp>
        <p:nvSpPr>
          <p:cNvPr id="10" name="Text 5"/>
          <p:cNvSpPr txBox="1"/>
          <p:nvPr/>
        </p:nvSpPr>
        <p:spPr>
          <a:xfrm>
            <a:off x="1783080" y="2999232"/>
            <a:ext cx="9326880" cy="411480"/>
          </a:xfrm>
          <a:prstGeom prst="rect">
            <a:avLst/>
          </a:prstGeom>
          <a:noFill/>
          <a:ln/>
        </p:spPr>
        <p:txBody>
          <a:bodyPr wrap="square" lIns="0" tIns="0" rIns="0" bIns="0" rtlCol="0" anchor="t"/>
          <a:lstStyle/>
          <a:p>
            <a:pPr indent="0" marL="0">
              <a:buNone/>
            </a:pPr>
            <a:r>
              <a:rPr lang="en-US" sz="2000" b="1" dirty="0">
                <a:solidFill>
                  <a:srgbClr val="2C5F2D"/>
                </a:solidFill>
                <a:latin typeface="Cambria" pitchFamily="34" charset="0"/>
                <a:ea typeface="Cambria" pitchFamily="34" charset="-122"/>
                <a:cs typeface="Cambria" pitchFamily="34" charset="-120"/>
              </a:rPr>
              <a:t>The signal is a pattern, not a field</a:t>
            </a:r>
            <a:endParaRPr lang="en-US" sz="2000" dirty="0"/>
          </a:p>
        </p:txBody>
      </p:sp>
      <p:sp>
        <p:nvSpPr>
          <p:cNvPr id="11" name="Text 6"/>
          <p:cNvSpPr txBox="1"/>
          <p:nvPr/>
        </p:nvSpPr>
        <p:spPr>
          <a:xfrm>
            <a:off x="1783080" y="3474720"/>
            <a:ext cx="9509760" cy="731520"/>
          </a:xfrm>
          <a:prstGeom prst="rect">
            <a:avLst/>
          </a:prstGeom>
          <a:noFill/>
          <a:ln/>
        </p:spPr>
        <p:txBody>
          <a:bodyPr wrap="square" lIns="0" tIns="0" rIns="0" bIns="0" rtlCol="0" anchor="t"/>
          <a:lstStyle/>
          <a:p>
            <a:pPr indent="0" marL="0">
              <a:buNone/>
            </a:pPr>
            <a:r>
              <a:rPr lang="en-US" sz="1500" dirty="0">
                <a:solidFill>
                  <a:srgbClr val="445645"/>
                </a:solidFill>
                <a:latin typeface="Calibri" pitchFamily="34" charset="0"/>
                <a:ea typeface="Calibri" pitchFamily="34" charset="-122"/>
                <a:cs typeface="Calibri" pitchFamily="34" charset="-120"/>
              </a:rPr>
              <a:t>Risk shows up in combinations - species x product x quantity x purpose x source x route - judged against what is normal for that species.</a:t>
            </a:r>
            <a:endParaRPr lang="en-US" sz="1500" dirty="0"/>
          </a:p>
        </p:txBody>
      </p:sp>
      <p:sp>
        <p:nvSpPr>
          <p:cNvPr id="12" name="Shape 7"/>
          <p:cNvSpPr/>
          <p:nvPr/>
        </p:nvSpPr>
        <p:spPr>
          <a:xfrm>
            <a:off x="685800" y="4617720"/>
            <a:ext cx="822960" cy="822960"/>
          </a:xfrm>
          <a:prstGeom prst="ellipse">
            <a:avLst/>
          </a:prstGeom>
          <a:solidFill>
            <a:srgbClr val="2C5F2D"/>
          </a:solidFill>
          <a:ln w="12700">
            <a:solidFill>
              <a:srgbClr val="2C5F2D"/>
            </a:solidFill>
            <a:prstDash val="solid"/>
          </a:ln>
        </p:spPr>
      </p:sp>
      <p:pic>
        <p:nvPicPr>
          <p:cNvPr id="13" name="Image 2" descr="/private/tmp/claude-503/-Users-adhithi-m-Desktop-Masters-Class-Notes---Review-1st-Year-Pattern-Recognition-Systems/3d956fe8-3803-4740-9b99-087bcc38d79c/scratchpad/deck/first_deck/ppt/media/image5.png">    </p:cNvPr>
          <p:cNvPicPr>
            <a:picLocks noChangeAspect="1"/>
          </p:cNvPicPr>
          <p:nvPr/>
        </p:nvPicPr>
        <p:blipFill>
          <a:blip r:embed="rId3"/>
          <a:stretch>
            <a:fillRect/>
          </a:stretch>
        </p:blipFill>
        <p:spPr>
          <a:xfrm>
            <a:off x="866851" y="4798771"/>
            <a:ext cx="460858" cy="460858"/>
          </a:xfrm>
          <a:prstGeom prst="rect">
            <a:avLst/>
          </a:prstGeom>
        </p:spPr>
      </p:pic>
      <p:sp>
        <p:nvSpPr>
          <p:cNvPr id="14" name="Text 8"/>
          <p:cNvSpPr txBox="1"/>
          <p:nvPr/>
        </p:nvSpPr>
        <p:spPr>
          <a:xfrm>
            <a:off x="1783080" y="4599432"/>
            <a:ext cx="9326880" cy="411480"/>
          </a:xfrm>
          <a:prstGeom prst="rect">
            <a:avLst/>
          </a:prstGeom>
          <a:noFill/>
          <a:ln/>
        </p:spPr>
        <p:txBody>
          <a:bodyPr wrap="square" lIns="0" tIns="0" rIns="0" bIns="0" rtlCol="0" anchor="t"/>
          <a:lstStyle/>
          <a:p>
            <a:pPr indent="0" marL="0">
              <a:buNone/>
            </a:pPr>
            <a:r>
              <a:rPr lang="en-US" sz="2000" b="1" dirty="0">
                <a:solidFill>
                  <a:srgbClr val="2C5F2D"/>
                </a:solidFill>
                <a:latin typeface="Cambria" pitchFamily="34" charset="0"/>
                <a:ea typeface="Cambria" pitchFamily="34" charset="-122"/>
                <a:cs typeface="Cambria" pitchFamily="34" charset="-120"/>
              </a:rPr>
              <a:t>A recognised need, not yet tooled</a:t>
            </a:r>
            <a:endParaRPr lang="en-US" sz="2000" dirty="0"/>
          </a:p>
        </p:txBody>
      </p:sp>
      <p:sp>
        <p:nvSpPr>
          <p:cNvPr id="15" name="Text 9"/>
          <p:cNvSpPr txBox="1"/>
          <p:nvPr/>
        </p:nvSpPr>
        <p:spPr>
          <a:xfrm>
            <a:off x="1783080" y="5074920"/>
            <a:ext cx="9509760" cy="731520"/>
          </a:xfrm>
          <a:prstGeom prst="rect">
            <a:avLst/>
          </a:prstGeom>
          <a:noFill/>
          <a:ln/>
        </p:spPr>
        <p:txBody>
          <a:bodyPr wrap="square" lIns="0" tIns="0" rIns="0" bIns="0" rtlCol="0" anchor="t"/>
          <a:lstStyle/>
          <a:p>
            <a:pPr indent="0" marL="0">
              <a:buNone/>
            </a:pPr>
            <a:r>
              <a:rPr lang="en-US" sz="1500" dirty="0">
                <a:solidFill>
                  <a:srgbClr val="445645"/>
                </a:solidFill>
                <a:latin typeface="Calibri" pitchFamily="34" charset="0"/>
                <a:ea typeface="Calibri" pitchFamily="34" charset="-122"/>
                <a:cs typeface="Calibri" pitchFamily="34" charset="-120"/>
              </a:rPr>
              <a:t>CITES Secretariat &amp; WCO guidance on risk assessment and inspections for CITES trade controls (CoP20 Decisions 20.130-20.131, Dec 2025): targeting is still largely manual.</a:t>
            </a:r>
            <a:endParaRPr lang="en-US" sz="1500" dirty="0"/>
          </a:p>
        </p:txBody>
      </p:sp>
      <p:sp>
        <p:nvSpPr>
          <p:cNvPr id="25" name="Slide Number Placeholder 0"/>
          <p:cNvSpPr>
            <a:spLocks noGrp="1"/>
          </p:cNvSpPr>
          <p:nvPr>
            <p:ph type="sldNum" sz="quarter" idx="4294967295"/>
          </p:nvPr>
        </p:nvSpPr>
        <p:spPr>
          <a:xfrm>
            <a:off x="1132301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6F"/>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0362895" cy="685800"/>
          </a:xfrm>
          <a:prstGeom prst="rect">
            <a:avLst/>
          </a:prstGeom>
          <a:noFill/>
          <a:ln/>
        </p:spPr>
        <p:txBody>
          <a:bodyPr wrap="square" lIns="0" tIns="0" rIns="0" bIns="0" rtlCol="0" anchor="ctr"/>
          <a:lstStyle/>
          <a:p>
            <a:pPr algn="l" indent="0" marL="0">
              <a:buNone/>
            </a:pPr>
            <a:r>
              <a:rPr lang="en-US" sz="3000" b="1" dirty="0">
                <a:solidFill>
                  <a:srgbClr val="2C5F2D"/>
                </a:solidFill>
                <a:latin typeface="Cambria" pitchFamily="34" charset="0"/>
                <a:ea typeface="Cambria" pitchFamily="34" charset="-122"/>
                <a:cs typeface="Cambria" pitchFamily="34" charset="-120"/>
              </a:rPr>
              <a:t>How we got here: from image fusion to label transfer</a:t>
            </a:r>
            <a:endParaRPr lang="en-US" sz="3000" dirty="0"/>
          </a:p>
        </p:txBody>
      </p:sp>
      <p:sp>
        <p:nvSpPr>
          <p:cNvPr id="4" name="Shape 1"/>
          <p:cNvSpPr/>
          <p:nvPr/>
        </p:nvSpPr>
        <p:spPr>
          <a:xfrm>
            <a:off x="548640" y="1280160"/>
            <a:ext cx="11064240" cy="548640"/>
          </a:xfrm>
          <a:prstGeom prst="roundRect">
            <a:avLst>
              <a:gd name="adj" fmla="val 13333"/>
            </a:avLst>
          </a:prstGeom>
          <a:solidFill>
            <a:srgbClr val="1A2E1B"/>
          </a:solidFill>
          <a:ln w="12700">
            <a:solidFill>
              <a:srgbClr val="1A2E1B"/>
            </a:solidFill>
            <a:prstDash val="solid"/>
          </a:ln>
          <a:effectLst>
            <a:outerShdw sx="100000" sy="100000" kx="0" ky="0" algn="bl" rotWithShape="0" blurRad="76200" dist="25400" dir="5400000">
              <a:srgbClr val="000000">
                <a:alpha val="8000"/>
              </a:srgbClr>
            </a:outerShdw>
          </a:effectLst>
        </p:spPr>
      </p:sp>
      <p:sp>
        <p:nvSpPr>
          <p:cNvPr id="5" name="Text 2"/>
          <p:cNvSpPr txBox="1"/>
          <p:nvPr/>
        </p:nvSpPr>
        <p:spPr>
          <a:xfrm>
            <a:off x="731520" y="1280160"/>
            <a:ext cx="10698480" cy="548640"/>
          </a:xfrm>
          <a:prstGeom prst="rect">
            <a:avLst/>
          </a:prstGeom>
          <a:noFill/>
          <a:ln/>
        </p:spPr>
        <p:txBody>
          <a:bodyPr wrap="square" lIns="0" tIns="0" rIns="0" bIns="0" rtlCol="0" anchor="ctr"/>
          <a:lstStyle/>
          <a:p>
            <a:pPr algn="ctr" indent="0" marL="0">
              <a:buNone/>
            </a:pPr>
            <a:r>
              <a:rPr lang="en-US" sz="1500" i="1" dirty="0">
                <a:solidFill>
                  <a:srgbClr val="FFFFFF"/>
                </a:solidFill>
                <a:latin typeface="Calibri" pitchFamily="34" charset="0"/>
                <a:ea typeface="Calibri" pitchFamily="34" charset="-122"/>
                <a:cs typeface="Calibri" pitchFamily="34" charset="-120"/>
              </a:rPr>
              <a:t>Original proposal: fuse CITES records with pangolin images into one review-priority score</a:t>
            </a:r>
            <a:endParaRPr lang="en-US" sz="1500" dirty="0"/>
          </a:p>
        </p:txBody>
      </p:sp>
      <p:sp>
        <p:nvSpPr>
          <p:cNvPr id="6" name="Shape 3"/>
          <p:cNvSpPr/>
          <p:nvPr/>
        </p:nvSpPr>
        <p:spPr>
          <a:xfrm>
            <a:off x="548640" y="2148840"/>
            <a:ext cx="3566160" cy="2103120"/>
          </a:xfrm>
          <a:prstGeom prst="roundRect">
            <a:avLst>
              <a:gd name="adj" fmla="val 3478"/>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7" name="Text 4"/>
          <p:cNvSpPr txBox="1"/>
          <p:nvPr/>
        </p:nvSpPr>
        <p:spPr>
          <a:xfrm>
            <a:off x="777240" y="2286000"/>
            <a:ext cx="3108960" cy="411480"/>
          </a:xfrm>
          <a:prstGeom prst="rect">
            <a:avLst/>
          </a:prstGeom>
          <a:noFill/>
          <a:ln/>
        </p:spPr>
        <p:txBody>
          <a:bodyPr wrap="square" lIns="0" tIns="0" rIns="0" bIns="0" rtlCol="0" anchor="t"/>
          <a:lstStyle/>
          <a:p>
            <a:pPr indent="0" marL="0">
              <a:buNone/>
            </a:pPr>
            <a:r>
              <a:rPr lang="en-US" sz="1800" b="1" dirty="0">
                <a:solidFill>
                  <a:srgbClr val="2C5F2D"/>
                </a:solidFill>
                <a:latin typeface="Cambria" pitchFamily="34" charset="0"/>
                <a:ea typeface="Cambria" pitchFamily="34" charset="-122"/>
                <a:cs typeface="Cambria" pitchFamily="34" charset="-120"/>
              </a:rPr>
              <a:t>Modality &amp; fairness</a:t>
            </a:r>
            <a:endParaRPr lang="en-US" sz="1800" dirty="0"/>
          </a:p>
        </p:txBody>
      </p:sp>
      <p:sp>
        <p:nvSpPr>
          <p:cNvPr id="8" name="Text 5"/>
          <p:cNvSpPr txBox="1"/>
          <p:nvPr/>
        </p:nvSpPr>
        <p:spPr>
          <a:xfrm>
            <a:off x="777240" y="2788920"/>
            <a:ext cx="3154680" cy="1371600"/>
          </a:xfrm>
          <a:prstGeom prst="rect">
            <a:avLst/>
          </a:prstGeom>
          <a:noFill/>
          <a:ln/>
        </p:spPr>
        <p:txBody>
          <a:bodyPr wrap="square" lIns="0" tIns="0" rIns="0" bIns="0" rtlCol="0" anchor="t"/>
          <a:lstStyle/>
          <a:p>
            <a:pPr indent="0" marL="0">
              <a:buNone/>
            </a:pPr>
            <a:r>
              <a:rPr lang="en-US" sz="1400" dirty="0">
                <a:solidFill>
                  <a:srgbClr val="445645"/>
                </a:solidFill>
                <a:latin typeface="Calibri" pitchFamily="34" charset="0"/>
                <a:ea typeface="Calibri" pitchFamily="34" charset="-122"/>
                <a:cs typeface="Calibri" pitchFamily="34" charset="-120"/>
              </a:rPr>
              <a:t>Images covered pangolins only; records covered every species - missing images would skew scores either way.</a:t>
            </a:r>
            <a:endParaRPr lang="en-US" sz="1400" dirty="0"/>
          </a:p>
        </p:txBody>
      </p:sp>
      <p:sp>
        <p:nvSpPr>
          <p:cNvPr id="9" name="Shape 6"/>
          <p:cNvSpPr/>
          <p:nvPr/>
        </p:nvSpPr>
        <p:spPr>
          <a:xfrm>
            <a:off x="4297680" y="2148840"/>
            <a:ext cx="3566160" cy="2103120"/>
          </a:xfrm>
          <a:prstGeom prst="roundRect">
            <a:avLst>
              <a:gd name="adj" fmla="val 3478"/>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0" name="Text 7"/>
          <p:cNvSpPr txBox="1"/>
          <p:nvPr/>
        </p:nvSpPr>
        <p:spPr>
          <a:xfrm>
            <a:off x="4526280" y="2286000"/>
            <a:ext cx="3108960" cy="411480"/>
          </a:xfrm>
          <a:prstGeom prst="rect">
            <a:avLst/>
          </a:prstGeom>
          <a:noFill/>
          <a:ln/>
        </p:spPr>
        <p:txBody>
          <a:bodyPr wrap="square" lIns="0" tIns="0" rIns="0" bIns="0" rtlCol="0" anchor="t"/>
          <a:lstStyle/>
          <a:p>
            <a:pPr indent="0" marL="0">
              <a:buNone/>
            </a:pPr>
            <a:r>
              <a:rPr lang="en-US" sz="1800" b="1" dirty="0">
                <a:solidFill>
                  <a:srgbClr val="2C5F2D"/>
                </a:solidFill>
                <a:latin typeface="Cambria" pitchFamily="34" charset="0"/>
                <a:ea typeface="Cambria" pitchFamily="34" charset="-122"/>
                <a:cs typeface="Cambria" pitchFamily="34" charset="-120"/>
              </a:rPr>
              <a:t>Usefulness</a:t>
            </a:r>
            <a:endParaRPr lang="en-US" sz="1800" dirty="0"/>
          </a:p>
        </p:txBody>
      </p:sp>
      <p:sp>
        <p:nvSpPr>
          <p:cNvPr id="11" name="Text 8"/>
          <p:cNvSpPr txBox="1"/>
          <p:nvPr/>
        </p:nvSpPr>
        <p:spPr>
          <a:xfrm>
            <a:off x="4526280" y="2788920"/>
            <a:ext cx="3154680" cy="1371600"/>
          </a:xfrm>
          <a:prstGeom prst="rect">
            <a:avLst/>
          </a:prstGeom>
          <a:noFill/>
          <a:ln/>
        </p:spPr>
        <p:txBody>
          <a:bodyPr wrap="square" lIns="0" tIns="0" rIns="0" bIns="0" rtlCol="0" anchor="t"/>
          <a:lstStyle/>
          <a:p>
            <a:pPr indent="0" marL="0">
              <a:buNone/>
            </a:pPr>
            <a:r>
              <a:rPr lang="en-US" sz="1400" dirty="0">
                <a:solidFill>
                  <a:srgbClr val="445645"/>
                </a:solidFill>
                <a:latin typeface="Calibri" pitchFamily="34" charset="0"/>
                <a:ea typeface="Calibri" pitchFamily="34" charset="-122"/>
                <a:cs typeface="Calibri" pitchFamily="34" charset="-120"/>
              </a:rPr>
              <a:t>Would mainly repeat known species-level risk, not say which specific shipment is urgent.</a:t>
            </a:r>
            <a:endParaRPr lang="en-US" sz="1400" dirty="0"/>
          </a:p>
        </p:txBody>
      </p:sp>
      <p:sp>
        <p:nvSpPr>
          <p:cNvPr id="12" name="Shape 9"/>
          <p:cNvSpPr/>
          <p:nvPr/>
        </p:nvSpPr>
        <p:spPr>
          <a:xfrm>
            <a:off x="8046720" y="2148840"/>
            <a:ext cx="3566160" cy="2103120"/>
          </a:xfrm>
          <a:prstGeom prst="roundRect">
            <a:avLst>
              <a:gd name="adj" fmla="val 3478"/>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3" name="Text 10"/>
          <p:cNvSpPr txBox="1"/>
          <p:nvPr/>
        </p:nvSpPr>
        <p:spPr>
          <a:xfrm>
            <a:off x="8275320" y="2286000"/>
            <a:ext cx="3108960" cy="411480"/>
          </a:xfrm>
          <a:prstGeom prst="rect">
            <a:avLst/>
          </a:prstGeom>
          <a:noFill/>
          <a:ln/>
        </p:spPr>
        <p:txBody>
          <a:bodyPr wrap="square" lIns="0" tIns="0" rIns="0" bIns="0" rtlCol="0" anchor="t"/>
          <a:lstStyle/>
          <a:p>
            <a:pPr indent="0" marL="0">
              <a:buNone/>
            </a:pPr>
            <a:r>
              <a:rPr lang="en-US" sz="1800" b="1" dirty="0">
                <a:solidFill>
                  <a:srgbClr val="2C5F2D"/>
                </a:solidFill>
                <a:latin typeface="Cambria" pitchFamily="34" charset="0"/>
                <a:ea typeface="Cambria" pitchFamily="34" charset="-122"/>
                <a:cs typeface="Cambria" pitchFamily="34" charset="-120"/>
              </a:rPr>
              <a:t>Data feasibility</a:t>
            </a:r>
            <a:endParaRPr lang="en-US" sz="1800" dirty="0"/>
          </a:p>
        </p:txBody>
      </p:sp>
      <p:sp>
        <p:nvSpPr>
          <p:cNvPr id="14" name="Text 11"/>
          <p:cNvSpPr txBox="1"/>
          <p:nvPr/>
        </p:nvSpPr>
        <p:spPr>
          <a:xfrm>
            <a:off x="8275320" y="2788920"/>
            <a:ext cx="3154680" cy="1371600"/>
          </a:xfrm>
          <a:prstGeom prst="rect">
            <a:avLst/>
          </a:prstGeom>
          <a:noFill/>
          <a:ln/>
        </p:spPr>
        <p:txBody>
          <a:bodyPr wrap="square" lIns="0" tIns="0" rIns="0" bIns="0" rtlCol="0" anchor="t"/>
          <a:lstStyle/>
          <a:p>
            <a:pPr indent="0" marL="0">
              <a:buNone/>
            </a:pPr>
            <a:r>
              <a:rPr lang="en-US" sz="1400" dirty="0">
                <a:solidFill>
                  <a:srgbClr val="445645"/>
                </a:solidFill>
                <a:latin typeface="Calibri" pitchFamily="34" charset="0"/>
                <a:ea typeface="Calibri" pitchFamily="34" charset="-122"/>
                <a:cs typeface="Calibri" pitchFamily="34" charset="-120"/>
              </a:rPr>
              <a:t>Image dataset request unanswered; synthetic augmentation brings a synthetic-to-real gap.</a:t>
            </a:r>
            <a:endParaRPr lang="en-US" sz="1400" dirty="0"/>
          </a:p>
        </p:txBody>
      </p:sp>
      <p:sp>
        <p:nvSpPr>
          <p:cNvPr id="15" name="Shape 12"/>
          <p:cNvSpPr/>
          <p:nvPr/>
        </p:nvSpPr>
        <p:spPr>
          <a:xfrm>
            <a:off x="548640" y="4572000"/>
            <a:ext cx="11064240" cy="548640"/>
          </a:xfrm>
          <a:prstGeom prst="roundRect">
            <a:avLst>
              <a:gd name="adj" fmla="val 13333"/>
            </a:avLst>
          </a:prstGeom>
          <a:solidFill>
            <a:srgbClr val="B5651D"/>
          </a:solidFill>
          <a:ln w="12700">
            <a:solidFill>
              <a:srgbClr val="B5651D"/>
            </a:solidFill>
            <a:prstDash val="solid"/>
          </a:ln>
          <a:effectLst>
            <a:outerShdw sx="100000" sy="100000" kx="0" ky="0" algn="bl" rotWithShape="0" blurRad="76200" dist="25400" dir="5400000">
              <a:srgbClr val="000000">
                <a:alpha val="8000"/>
              </a:srgbClr>
            </a:outerShdw>
          </a:effectLst>
        </p:spPr>
      </p:sp>
      <p:sp>
        <p:nvSpPr>
          <p:cNvPr id="16" name="Text 13"/>
          <p:cNvSpPr txBox="1"/>
          <p:nvPr/>
        </p:nvSpPr>
        <p:spPr>
          <a:xfrm>
            <a:off x="731520" y="4572000"/>
            <a:ext cx="1069848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Decision: drop the visual + structured fusion design</a:t>
            </a:r>
            <a:endParaRPr lang="en-US" sz="1600" dirty="0"/>
          </a:p>
        </p:txBody>
      </p:sp>
      <p:sp>
        <p:nvSpPr>
          <p:cNvPr id="17" name="Shape 14"/>
          <p:cNvSpPr/>
          <p:nvPr/>
        </p:nvSpPr>
        <p:spPr>
          <a:xfrm>
            <a:off x="548640" y="5349240"/>
            <a:ext cx="11064240" cy="685800"/>
          </a:xfrm>
          <a:prstGeom prst="roundRect">
            <a:avLst>
              <a:gd name="adj" fmla="val 10667"/>
            </a:avLst>
          </a:prstGeom>
          <a:solidFill>
            <a:srgbClr val="2C5F2D"/>
          </a:solidFill>
          <a:ln w="12700">
            <a:solidFill>
              <a:srgbClr val="2C5F2D"/>
            </a:solidFill>
            <a:prstDash val="solid"/>
          </a:ln>
          <a:effectLst>
            <a:outerShdw sx="100000" sy="100000" kx="0" ky="0" algn="bl" rotWithShape="0" blurRad="76200" dist="25400" dir="5400000">
              <a:srgbClr val="000000">
                <a:alpha val="8000"/>
              </a:srgbClr>
            </a:outerShdw>
          </a:effectLst>
        </p:spPr>
      </p:sp>
      <p:sp>
        <p:nvSpPr>
          <p:cNvPr id="18" name="Text 15"/>
          <p:cNvSpPr txBox="1"/>
          <p:nvPr/>
        </p:nvSpPr>
        <p:spPr>
          <a:xfrm>
            <a:off x="731520" y="5349240"/>
            <a:ext cx="1069848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New direction: LEMIS + CITES, one modality, cross-dataset label transfer</a:t>
            </a:r>
            <a:endParaRPr lang="en-US" sz="1800" dirty="0"/>
          </a:p>
        </p:txBody>
      </p:sp>
      <p:sp>
        <p:nvSpPr>
          <p:cNvPr id="25" name="Slide Number Placeholder 0"/>
          <p:cNvSpPr>
            <a:spLocks noGrp="1"/>
          </p:cNvSpPr>
          <p:nvPr>
            <p:ph type="sldNum" sz="quarter" idx="4294967295"/>
          </p:nvPr>
        </p:nvSpPr>
        <p:spPr>
          <a:xfrm>
            <a:off x="1132301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6F"/>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0362895" cy="685800"/>
          </a:xfrm>
          <a:prstGeom prst="rect">
            <a:avLst/>
          </a:prstGeom>
          <a:noFill/>
          <a:ln/>
        </p:spPr>
        <p:txBody>
          <a:bodyPr wrap="square" lIns="0" tIns="0" rIns="0" bIns="0" rtlCol="0" anchor="ctr"/>
          <a:lstStyle/>
          <a:p>
            <a:pPr algn="l" indent="0" marL="0">
              <a:buNone/>
            </a:pPr>
            <a:r>
              <a:rPr lang="en-US" sz="3000" b="1" dirty="0">
                <a:solidFill>
                  <a:srgbClr val="2C5F2D"/>
                </a:solidFill>
                <a:latin typeface="Cambria" pitchFamily="34" charset="0"/>
                <a:ea typeface="Cambria" pitchFamily="34" charset="-122"/>
                <a:cs typeface="Cambria" pitchFamily="34" charset="-120"/>
              </a:rPr>
              <a:t>The idea: LEMIS has the labels, CITES has the scale</a:t>
            </a:r>
            <a:endParaRPr lang="en-US" sz="3000" dirty="0"/>
          </a:p>
        </p:txBody>
      </p:sp>
      <p:sp>
        <p:nvSpPr>
          <p:cNvPr id="4" name="Shape 1"/>
          <p:cNvSpPr/>
          <p:nvPr/>
        </p:nvSpPr>
        <p:spPr>
          <a:xfrm>
            <a:off x="548640" y="1325880"/>
            <a:ext cx="4572000" cy="4206240"/>
          </a:xfrm>
          <a:prstGeom prst="roundRect">
            <a:avLst>
              <a:gd name="adj" fmla="val 1739"/>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5" name="Text 2"/>
          <p:cNvSpPr txBox="1"/>
          <p:nvPr/>
        </p:nvSpPr>
        <p:spPr>
          <a:xfrm>
            <a:off x="822960" y="1508760"/>
            <a:ext cx="4023360" cy="457200"/>
          </a:xfrm>
          <a:prstGeom prst="rect">
            <a:avLst/>
          </a:prstGeom>
          <a:noFill/>
          <a:ln/>
        </p:spPr>
        <p:txBody>
          <a:bodyPr wrap="square" lIns="0" tIns="0" rIns="0" bIns="0" rtlCol="0" anchor="t"/>
          <a:lstStyle/>
          <a:p>
            <a:pPr indent="0" marL="0">
              <a:buNone/>
            </a:pPr>
            <a:r>
              <a:rPr lang="en-US" sz="2000" b="1" dirty="0">
                <a:solidFill>
                  <a:srgbClr val="2C5F2D"/>
                </a:solidFill>
                <a:latin typeface="Cambria" pitchFamily="34" charset="0"/>
                <a:ea typeface="Cambria" pitchFamily="34" charset="-122"/>
                <a:cs typeface="Cambria" pitchFamily="34" charset="-120"/>
              </a:rPr>
              <a:t>LEMIS  ·  US Fish &amp; Wildlife Service</a:t>
            </a:r>
            <a:endParaRPr lang="en-US" sz="2000" dirty="0"/>
          </a:p>
        </p:txBody>
      </p:sp>
      <p:sp>
        <p:nvSpPr>
          <p:cNvPr id="6" name="Text 3"/>
          <p:cNvSpPr txBox="1"/>
          <p:nvPr/>
        </p:nvSpPr>
        <p:spPr>
          <a:xfrm>
            <a:off x="822960" y="1965960"/>
            <a:ext cx="4023360" cy="320040"/>
          </a:xfrm>
          <a:prstGeom prst="rect">
            <a:avLst/>
          </a:prstGeom>
          <a:noFill/>
          <a:ln/>
        </p:spPr>
        <p:txBody>
          <a:bodyPr wrap="square" lIns="0" tIns="0" rIns="0" bIns="0" rtlCol="0" anchor="t"/>
          <a:lstStyle/>
          <a:p>
            <a:pPr indent="0" marL="0">
              <a:buNone/>
            </a:pPr>
            <a:r>
              <a:rPr lang="en-US" sz="1300" b="1" spc="200" kern="0" dirty="0">
                <a:solidFill>
                  <a:srgbClr val="B5651D"/>
                </a:solidFill>
                <a:latin typeface="Calibri" pitchFamily="34" charset="0"/>
                <a:ea typeface="Calibri" pitchFamily="34" charset="-122"/>
                <a:cs typeface="Calibri" pitchFamily="34" charset="-120"/>
              </a:rPr>
              <a:t>gives LABELS</a:t>
            </a:r>
            <a:endParaRPr lang="en-US" sz="1300" dirty="0"/>
          </a:p>
        </p:txBody>
      </p:sp>
      <p:sp>
        <p:nvSpPr>
          <p:cNvPr id="7" name="Text 4"/>
          <p:cNvSpPr txBox="1"/>
          <p:nvPr/>
        </p:nvSpPr>
        <p:spPr>
          <a:xfrm>
            <a:off x="822960" y="2468880"/>
            <a:ext cx="4069080" cy="28346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445645"/>
                </a:solidFill>
                <a:latin typeface="Calibri" pitchFamily="34" charset="0"/>
                <a:ea typeface="Calibri" pitchFamily="34" charset="-122"/>
                <a:cs typeface="Calibri" pitchFamily="34" charset="-120"/>
              </a:rPr>
              <a:t>5.51M US import line items, 2000-2014</a:t>
            </a:r>
            <a:endParaRPr lang="en-US" sz="1500" dirty="0"/>
          </a:p>
          <a:p>
            <a:pPr marL="342900" indent="-342900">
              <a:spcAft>
                <a:spcPts val="1000"/>
              </a:spcAft>
              <a:buSzPct val="100000"/>
              <a:buChar char="•"/>
            </a:pPr>
            <a:r>
              <a:rPr lang="en-US" sz="1500" dirty="0">
                <a:solidFill>
                  <a:srgbClr val="445645"/>
                </a:solidFill>
                <a:latin typeface="Calibri" pitchFamily="34" charset="0"/>
                <a:ea typeface="Calibri" pitchFamily="34" charset="-122"/>
                <a:cs typeface="Calibri" pitchFamily="34" charset="-120"/>
              </a:rPr>
              <a:t>Real outcomes: refused / seized / abandoned / re-exported vs cleared</a:t>
            </a:r>
            <a:endParaRPr lang="en-US" sz="1500" dirty="0"/>
          </a:p>
          <a:p>
            <a:pPr marL="342900" indent="-342900">
              <a:spcAft>
                <a:spcPts val="1000"/>
              </a:spcAft>
              <a:buSzPct val="100000"/>
              <a:buChar char="•"/>
            </a:pPr>
            <a:r>
              <a:rPr lang="en-US" sz="1500" dirty="0">
                <a:solidFill>
                  <a:srgbClr val="445645"/>
                </a:solidFill>
                <a:latin typeface="Calibri" pitchFamily="34" charset="0"/>
                <a:ea typeface="Calibri" pitchFamily="34" charset="-122"/>
                <a:cs typeface="Calibri" pitchFamily="34" charset="-120"/>
              </a:rPr>
              <a:t>Enforcement cases: 1.74% of line items - heavily imbalanced</a:t>
            </a:r>
            <a:endParaRPr lang="en-US" sz="1500" dirty="0"/>
          </a:p>
          <a:p>
            <a:pPr marL="342900" indent="-342900">
              <a:spcAft>
                <a:spcPts val="1000"/>
              </a:spcAft>
              <a:buSzPct val="100000"/>
              <a:buChar char="•"/>
            </a:pPr>
            <a:r>
              <a:rPr lang="en-US" sz="1500" dirty="0">
                <a:solidFill>
                  <a:srgbClr val="445645"/>
                </a:solidFill>
                <a:latin typeface="Calibri" pitchFamily="34" charset="0"/>
                <a:ea typeface="Calibri" pitchFamily="34" charset="-122"/>
                <a:cs typeface="Calibri" pitchFamily="34" charset="-120"/>
              </a:rPr>
              <a:t>Lacks: global coverage</a:t>
            </a:r>
            <a:endParaRPr lang="en-US" sz="1500" dirty="0"/>
          </a:p>
        </p:txBody>
      </p:sp>
      <p:sp>
        <p:nvSpPr>
          <p:cNvPr id="8" name="Shape 5"/>
          <p:cNvSpPr/>
          <p:nvPr/>
        </p:nvSpPr>
        <p:spPr>
          <a:xfrm>
            <a:off x="7068312" y="1325880"/>
            <a:ext cx="4572000" cy="4206240"/>
          </a:xfrm>
          <a:prstGeom prst="roundRect">
            <a:avLst>
              <a:gd name="adj" fmla="val 1739"/>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9" name="Text 6"/>
          <p:cNvSpPr txBox="1"/>
          <p:nvPr/>
        </p:nvSpPr>
        <p:spPr>
          <a:xfrm>
            <a:off x="7342632" y="1508760"/>
            <a:ext cx="4023360" cy="457200"/>
          </a:xfrm>
          <a:prstGeom prst="rect">
            <a:avLst/>
          </a:prstGeom>
          <a:noFill/>
          <a:ln/>
        </p:spPr>
        <p:txBody>
          <a:bodyPr wrap="square" lIns="0" tIns="0" rIns="0" bIns="0" rtlCol="0" anchor="t"/>
          <a:lstStyle/>
          <a:p>
            <a:pPr indent="0" marL="0">
              <a:buNone/>
            </a:pPr>
            <a:r>
              <a:rPr lang="en-US" sz="2000" b="1" dirty="0">
                <a:solidFill>
                  <a:srgbClr val="2C5F2D"/>
                </a:solidFill>
                <a:latin typeface="Cambria" pitchFamily="34" charset="0"/>
                <a:ea typeface="Cambria" pitchFamily="34" charset="-122"/>
                <a:cs typeface="Cambria" pitchFamily="34" charset="-120"/>
              </a:rPr>
              <a:t>CITES Trade Database</a:t>
            </a:r>
            <a:endParaRPr lang="en-US" sz="2000" dirty="0"/>
          </a:p>
        </p:txBody>
      </p:sp>
      <p:sp>
        <p:nvSpPr>
          <p:cNvPr id="10" name="Text 7"/>
          <p:cNvSpPr txBox="1"/>
          <p:nvPr/>
        </p:nvSpPr>
        <p:spPr>
          <a:xfrm>
            <a:off x="7342632" y="1965960"/>
            <a:ext cx="4023360" cy="320040"/>
          </a:xfrm>
          <a:prstGeom prst="rect">
            <a:avLst/>
          </a:prstGeom>
          <a:noFill/>
          <a:ln/>
        </p:spPr>
        <p:txBody>
          <a:bodyPr wrap="square" lIns="0" tIns="0" rIns="0" bIns="0" rtlCol="0" anchor="t"/>
          <a:lstStyle/>
          <a:p>
            <a:pPr indent="0" marL="0">
              <a:buNone/>
            </a:pPr>
            <a:r>
              <a:rPr lang="en-US" sz="1300" b="1" spc="200" kern="0" dirty="0">
                <a:solidFill>
                  <a:srgbClr val="B5651D"/>
                </a:solidFill>
                <a:latin typeface="Calibri" pitchFamily="34" charset="0"/>
                <a:ea typeface="Calibri" pitchFamily="34" charset="-122"/>
                <a:cs typeface="Calibri" pitchFamily="34" charset="-120"/>
              </a:rPr>
              <a:t>gives SCALE</a:t>
            </a:r>
            <a:endParaRPr lang="en-US" sz="1300" dirty="0"/>
          </a:p>
        </p:txBody>
      </p:sp>
      <p:sp>
        <p:nvSpPr>
          <p:cNvPr id="11" name="Text 8"/>
          <p:cNvSpPr txBox="1"/>
          <p:nvPr/>
        </p:nvSpPr>
        <p:spPr>
          <a:xfrm>
            <a:off x="7342632" y="2468880"/>
            <a:ext cx="4069080" cy="28346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445645"/>
                </a:solidFill>
                <a:latin typeface="Calibri" pitchFamily="34" charset="0"/>
                <a:ea typeface="Calibri" pitchFamily="34" charset="-122"/>
                <a:cs typeface="Calibri" pitchFamily="34" charset="-120"/>
              </a:rPr>
              <a:t>8.25M animal trade records scored, 2015-2024</a:t>
            </a:r>
            <a:endParaRPr lang="en-US" sz="1500" dirty="0"/>
          </a:p>
          <a:p>
            <a:pPr marL="342900" indent="-342900">
              <a:spcAft>
                <a:spcPts val="1000"/>
              </a:spcAft>
              <a:buSzPct val="100000"/>
              <a:buChar char="•"/>
            </a:pPr>
            <a:r>
              <a:rPr lang="en-US" sz="1500" dirty="0">
                <a:solidFill>
                  <a:srgbClr val="445645"/>
                </a:solidFill>
                <a:latin typeface="Calibri" pitchFamily="34" charset="0"/>
                <a:ea typeface="Calibri" pitchFamily="34" charset="-122"/>
                <a:cs typeface="Calibri" pitchFamily="34" charset="-120"/>
              </a:rPr>
              <a:t>Every Party, every CITES-listed animal taxon</a:t>
            </a:r>
            <a:endParaRPr lang="en-US" sz="1500" dirty="0"/>
          </a:p>
          <a:p>
            <a:pPr marL="342900" indent="-342900">
              <a:spcAft>
                <a:spcPts val="1000"/>
              </a:spcAft>
              <a:buSzPct val="100000"/>
              <a:buChar char="•"/>
            </a:pPr>
            <a:r>
              <a:rPr lang="en-US" sz="1500" dirty="0">
                <a:solidFill>
                  <a:srgbClr val="445645"/>
                </a:solidFill>
                <a:latin typeface="Calibri" pitchFamily="34" charset="0"/>
                <a:ea typeface="Calibri" pitchFamily="34" charset="-122"/>
                <a:cs typeface="Calibri" pitchFamily="34" charset="-120"/>
              </a:rPr>
              <a:t>No enforcement labels (illegal-trade DB is restricted)</a:t>
            </a:r>
            <a:endParaRPr lang="en-US" sz="1500" dirty="0"/>
          </a:p>
          <a:p>
            <a:pPr marL="342900" indent="-342900">
              <a:spcAft>
                <a:spcPts val="1000"/>
              </a:spcAft>
              <a:buSzPct val="100000"/>
              <a:buChar char="•"/>
            </a:pPr>
            <a:r>
              <a:rPr lang="en-US" sz="1500" dirty="0">
                <a:solidFill>
                  <a:srgbClr val="445645"/>
                </a:solidFill>
                <a:latin typeface="Calibri" pitchFamily="34" charset="0"/>
                <a:ea typeface="Calibri" pitchFamily="34" charset="-122"/>
                <a:cs typeface="Calibri" pitchFamily="34" charset="-120"/>
              </a:rPr>
              <a:t>Lacks: labels, declared value</a:t>
            </a:r>
            <a:endParaRPr lang="en-US" sz="1500" dirty="0"/>
          </a:p>
        </p:txBody>
      </p:sp>
      <p:sp>
        <p:nvSpPr>
          <p:cNvPr id="12" name="Shape 9"/>
          <p:cNvSpPr/>
          <p:nvPr/>
        </p:nvSpPr>
        <p:spPr>
          <a:xfrm>
            <a:off x="5349240" y="2743200"/>
            <a:ext cx="1508760" cy="1371600"/>
          </a:xfrm>
          <a:prstGeom prst="roundRect">
            <a:avLst>
              <a:gd name="adj" fmla="val 5333"/>
            </a:avLst>
          </a:prstGeom>
          <a:solidFill>
            <a:srgbClr val="2C5F2D"/>
          </a:solidFill>
          <a:ln w="12700">
            <a:solidFill>
              <a:srgbClr val="2C5F2D"/>
            </a:solidFill>
            <a:prstDash val="solid"/>
          </a:ln>
          <a:effectLst>
            <a:outerShdw sx="100000" sy="100000" kx="0" ky="0" algn="bl" rotWithShape="0" blurRad="76200" dist="25400" dir="5400000">
              <a:srgbClr val="000000">
                <a:alpha val="8000"/>
              </a:srgbClr>
            </a:outerShdw>
          </a:effectLst>
        </p:spPr>
      </p:sp>
      <p:sp>
        <p:nvSpPr>
          <p:cNvPr id="13" name="Text 10"/>
          <p:cNvSpPr txBox="1"/>
          <p:nvPr/>
        </p:nvSpPr>
        <p:spPr>
          <a:xfrm>
            <a:off x="5349240" y="2743200"/>
            <a:ext cx="1508760" cy="13716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schema</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alignment</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 label</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transfer</a:t>
            </a:r>
            <a:endParaRPr lang="en-US" sz="1300" dirty="0"/>
          </a:p>
        </p:txBody>
      </p:sp>
      <p:sp>
        <p:nvSpPr>
          <p:cNvPr id="14" name="Text 11"/>
          <p:cNvSpPr txBox="1"/>
          <p:nvPr/>
        </p:nvSpPr>
        <p:spPr>
          <a:xfrm>
            <a:off x="548640" y="5806440"/>
            <a:ext cx="11064240" cy="320040"/>
          </a:xfrm>
          <a:prstGeom prst="rect">
            <a:avLst/>
          </a:prstGeom>
          <a:noFill/>
          <a:ln/>
        </p:spPr>
        <p:txBody>
          <a:bodyPr wrap="square" lIns="0" tIns="0" rIns="0" bIns="0" rtlCol="0" anchor="t"/>
          <a:lstStyle/>
          <a:p>
            <a:pPr indent="0" marL="0">
              <a:buNone/>
            </a:pPr>
            <a:r>
              <a:rPr lang="en-US" sz="1100" i="1" dirty="0">
                <a:solidFill>
                  <a:srgbClr val="6E7F6F"/>
                </a:solidFill>
                <a:latin typeface="Calibri" pitchFamily="34" charset="0"/>
                <a:ea typeface="Calibri" pitchFamily="34" charset="-122"/>
                <a:cs typeface="Calibri" pitchFamily="34" charset="-120"/>
              </a:rPr>
              <a:t>LEMIS v1.1.0 (Zenodo, CC-BY-4.0)  ·  CITES full download v2026.1 (UNEP-WCMC for the CITES Secretariat)</a:t>
            </a:r>
            <a:endParaRPr lang="en-US" sz="1100" dirty="0"/>
          </a:p>
        </p:txBody>
      </p:sp>
      <p:sp>
        <p:nvSpPr>
          <p:cNvPr id="25" name="Slide Number Placeholder 0"/>
          <p:cNvSpPr>
            <a:spLocks noGrp="1"/>
          </p:cNvSpPr>
          <p:nvPr>
            <p:ph type="sldNum" sz="quarter" idx="4294967295"/>
          </p:nvPr>
        </p:nvSpPr>
        <p:spPr>
          <a:xfrm>
            <a:off x="1132301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6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0362895" cy="685800"/>
          </a:xfrm>
          <a:prstGeom prst="rect">
            <a:avLst/>
          </a:prstGeom>
          <a:noFill/>
          <a:ln/>
        </p:spPr>
        <p:txBody>
          <a:bodyPr wrap="square" lIns="0" tIns="0" rIns="0" bIns="0" rtlCol="0" anchor="ctr"/>
          <a:lstStyle/>
          <a:p>
            <a:pPr algn="l" indent="0" marL="0">
              <a:buNone/>
            </a:pPr>
            <a:r>
              <a:rPr lang="en-US" sz="3000" b="1" dirty="0">
                <a:solidFill>
                  <a:srgbClr val="2C5F2D"/>
                </a:solidFill>
                <a:latin typeface="Cambria" pitchFamily="34" charset="0"/>
                <a:ea typeface="Cambria" pitchFamily="34" charset="-122"/>
                <a:cs typeface="Cambria" pitchFamily="34" charset="-120"/>
              </a:rPr>
              <a:t>Making two datasets speak the same language</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315200" cy="914400"/>
        </p:xfrm>
        <a:graphic>
          <a:graphicData uri="http://schemas.openxmlformats.org/drawingml/2006/table">
            <a:tbl>
              <a:tblPr/>
              <a:tblGrid>
                <a:gridCol w="1600200"/>
                <a:gridCol w="1965960"/>
                <a:gridCol w="1965960"/>
                <a:gridCol w="1783080"/>
              </a:tblGrid>
              <a:tr h="47548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Field</a:t>
                      </a:r>
                      <a:endParaRPr lang="en-US" sz="1250" dirty="0">
                        <a:latin typeface="Calibri" charset="0"/>
                        <a:ea typeface="Calibri" charset="0"/>
                        <a:cs typeface="Calibri" charset="0"/>
                      </a:endParaRPr>
                    </a:p>
                  </a:txBody>
                  <a:tcPr marL="91440" marR="91440" marT="45720" marB="45720" anchor="ctr">
                    <a:lnL w="9525" cap="flat" cmpd="sng" algn="ctr">
                      <a:solidFill>
                        <a:srgbClr val="CFE0B8"/>
                      </a:solidFill>
                      <a:prstDash val="solid"/>
                      <a:round/>
                      <a:headEnd type="none" w="med" len="med"/>
                      <a:tailEnd type="none" w="med" len="med"/>
                    </a:lnL>
                    <a:lnR w="9525" cap="flat" cmpd="sng" algn="ctr">
                      <a:solidFill>
                        <a:srgbClr val="CFE0B8"/>
                      </a:solidFill>
                      <a:prstDash val="solid"/>
                      <a:round/>
                      <a:headEnd type="none" w="med" len="med"/>
                      <a:tailEnd type="none" w="med" len="med"/>
                    </a:lnR>
                    <a:lnT w="9525" cap="flat" cmpd="sng" algn="ctr">
                      <a:solidFill>
                        <a:srgbClr val="CFE0B8"/>
                      </a:solidFill>
                      <a:prstDash val="solid"/>
                      <a:round/>
                      <a:headEnd type="none" w="med" len="med"/>
                      <a:tailEnd type="none" w="med" len="med"/>
                    </a:lnT>
                    <a:lnB w="9525" cap="flat" cmpd="sng" algn="ctr">
                      <a:solidFill>
                        <a:srgbClr val="CFE0B8"/>
                      </a:solidFill>
                      <a:prstDash val="solid"/>
                      <a:round/>
                      <a:headEnd type="none" w="med" len="med"/>
                      <a:tailEnd type="none" w="med" len="med"/>
                    </a:lnB>
                    <a:solidFill>
                      <a:srgbClr val="2C5F2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LEMIS</a:t>
                      </a:r>
                      <a:endParaRPr lang="en-US" sz="1250" dirty="0">
                        <a:latin typeface="Calibri" charset="0"/>
                        <a:ea typeface="Calibri" charset="0"/>
                        <a:cs typeface="Calibri" charset="0"/>
                      </a:endParaRPr>
                    </a:p>
                  </a:txBody>
                  <a:tcPr marL="91440" marR="91440" marT="45720" marB="45720" anchor="ctr">
                    <a:lnL w="9525" cap="flat" cmpd="sng" algn="ctr">
                      <a:solidFill>
                        <a:srgbClr val="CFE0B8"/>
                      </a:solidFill>
                      <a:prstDash val="solid"/>
                      <a:round/>
                      <a:headEnd type="none" w="med" len="med"/>
                      <a:tailEnd type="none" w="med" len="med"/>
                    </a:lnL>
                    <a:lnR w="9525" cap="flat" cmpd="sng" algn="ctr">
                      <a:solidFill>
                        <a:srgbClr val="CFE0B8"/>
                      </a:solidFill>
                      <a:prstDash val="solid"/>
                      <a:round/>
                      <a:headEnd type="none" w="med" len="med"/>
                      <a:tailEnd type="none" w="med" len="med"/>
                    </a:lnR>
                    <a:lnT w="9525" cap="flat" cmpd="sng" algn="ctr">
                      <a:solidFill>
                        <a:srgbClr val="CFE0B8"/>
                      </a:solidFill>
                      <a:prstDash val="solid"/>
                      <a:round/>
                      <a:headEnd type="none" w="med" len="med"/>
                      <a:tailEnd type="none" w="med" len="med"/>
                    </a:lnT>
                    <a:lnB w="9525" cap="flat" cmpd="sng" algn="ctr">
                      <a:solidFill>
                        <a:srgbClr val="CFE0B8"/>
                      </a:solidFill>
                      <a:prstDash val="solid"/>
                      <a:round/>
                      <a:headEnd type="none" w="med" len="med"/>
                      <a:tailEnd type="none" w="med" len="med"/>
                    </a:lnB>
                    <a:solidFill>
                      <a:srgbClr val="2C5F2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CITES</a:t>
                      </a:r>
                      <a:endParaRPr lang="en-US" sz="1250" dirty="0">
                        <a:latin typeface="Calibri" charset="0"/>
                        <a:ea typeface="Calibri" charset="0"/>
                        <a:cs typeface="Calibri" charset="0"/>
                      </a:endParaRPr>
                    </a:p>
                  </a:txBody>
                  <a:tcPr marL="91440" marR="91440" marT="45720" marB="45720" anchor="ctr">
                    <a:lnL w="9525" cap="flat" cmpd="sng" algn="ctr">
                      <a:solidFill>
                        <a:srgbClr val="CFE0B8"/>
                      </a:solidFill>
                      <a:prstDash val="solid"/>
                      <a:round/>
                      <a:headEnd type="none" w="med" len="med"/>
                      <a:tailEnd type="none" w="med" len="med"/>
                    </a:lnL>
                    <a:lnR w="9525" cap="flat" cmpd="sng" algn="ctr">
                      <a:solidFill>
                        <a:srgbClr val="CFE0B8"/>
                      </a:solidFill>
                      <a:prstDash val="solid"/>
                      <a:round/>
                      <a:headEnd type="none" w="med" len="med"/>
                      <a:tailEnd type="none" w="med" len="med"/>
                    </a:lnR>
                    <a:lnT w="9525" cap="flat" cmpd="sng" algn="ctr">
                      <a:solidFill>
                        <a:srgbClr val="CFE0B8"/>
                      </a:solidFill>
                      <a:prstDash val="solid"/>
                      <a:round/>
                      <a:headEnd type="none" w="med" len="med"/>
                      <a:tailEnd type="none" w="med" len="med"/>
                    </a:lnT>
                    <a:lnB w="9525" cap="flat" cmpd="sng" algn="ctr">
                      <a:solidFill>
                        <a:srgbClr val="CFE0B8"/>
                      </a:solidFill>
                      <a:prstDash val="solid"/>
                      <a:round/>
                      <a:headEnd type="none" w="med" len="med"/>
                      <a:tailEnd type="none" w="med" len="med"/>
                    </a:lnB>
                    <a:solidFill>
                      <a:srgbClr val="2C5F2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Shared form</a:t>
                      </a:r>
                      <a:endParaRPr lang="en-US" sz="1250" dirty="0">
                        <a:latin typeface="Calibri" charset="0"/>
                        <a:ea typeface="Calibri" charset="0"/>
                        <a:cs typeface="Calibri" charset="0"/>
                      </a:endParaRPr>
                    </a:p>
                  </a:txBody>
                  <a:tcPr marL="91440" marR="91440" marT="45720" marB="45720" anchor="ctr">
                    <a:lnL w="9525" cap="flat" cmpd="sng" algn="ctr">
                      <a:solidFill>
                        <a:srgbClr val="CFE0B8"/>
                      </a:solidFill>
                      <a:prstDash val="solid"/>
                      <a:round/>
                      <a:headEnd type="none" w="med" len="med"/>
                      <a:tailEnd type="none" w="med" len="med"/>
                    </a:lnL>
                    <a:lnR w="9525" cap="flat" cmpd="sng" algn="ctr">
                      <a:solidFill>
                        <a:srgbClr val="CFE0B8"/>
                      </a:solidFill>
                      <a:prstDash val="solid"/>
                      <a:round/>
                      <a:headEnd type="none" w="med" len="med"/>
                      <a:tailEnd type="none" w="med" len="med"/>
                    </a:lnR>
                    <a:lnT w="9525" cap="flat" cmpd="sng" algn="ctr">
                      <a:solidFill>
                        <a:srgbClr val="CFE0B8"/>
                      </a:solidFill>
                      <a:prstDash val="solid"/>
                      <a:round/>
                      <a:headEnd type="none" w="med" len="med"/>
                      <a:tailEnd type="none" w="med" len="med"/>
                    </a:lnT>
                    <a:lnB w="9525" cap="flat" cmpd="sng" algn="ctr">
                      <a:solidFill>
                        <a:srgbClr val="CFE0B8"/>
                      </a:solidFill>
                      <a:prstDash val="solid"/>
                      <a:round/>
                      <a:headEnd type="none" w="med" len="med"/>
                      <a:tailEnd type="none" w="med" len="med"/>
                    </a:lnB>
                    <a:solidFill>
                      <a:srgbClr val="2C5F2D"/>
                    </a:solidFill>
                  </a:tcPr>
                </a:tc>
              </a:tr>
              <a:tr h="475488">
                <a:tc>
                  <a:txBody>
                    <a:bodyPr/>
                    <a:lstStyle/>
                    <a:p>
                      <a:pPr indent="0" marL="0">
                        <a:buNone/>
                      </a:pPr>
                      <a:r>
                        <a:rPr lang="en-US" sz="1250" dirty="0">
                          <a:solidFill>
                            <a:srgbClr val="1A2E1B"/>
                          </a:solidFill>
                          <a:latin typeface="Calibri" pitchFamily="34" charset="0"/>
                          <a:ea typeface="Calibri" pitchFamily="34" charset="-122"/>
                          <a:cs typeface="Calibri" pitchFamily="34" charset="-120"/>
                        </a:rPr>
                        <a:t>Product form</a:t>
                      </a:r>
                      <a:endParaRPr lang="en-US" sz="1250" dirty="0">
                        <a:latin typeface="Calibri" charset="0"/>
                        <a:ea typeface="Calibri" charset="0"/>
                        <a:cs typeface="Calibri" charset="0"/>
                      </a:endParaRPr>
                    </a:p>
                  </a:txBody>
                  <a:tcPr marL="91440" marR="91440" marT="45720" marB="45720" anchor="ctr">
                    <a:lnL w="9525" cap="flat" cmpd="sng" algn="ctr">
                      <a:solidFill>
                        <a:srgbClr val="CFE0B8"/>
                      </a:solidFill>
                      <a:prstDash val="solid"/>
                      <a:round/>
                      <a:headEnd type="none" w="med" len="med"/>
                      <a:tailEnd type="none" w="med" len="med"/>
                    </a:lnL>
                    <a:lnR w="9525" cap="flat" cmpd="sng" algn="ctr">
                      <a:solidFill>
                        <a:srgbClr val="CFE0B8"/>
                      </a:solidFill>
                      <a:prstDash val="solid"/>
                      <a:round/>
                      <a:headEnd type="none" w="med" len="med"/>
                      <a:tailEnd type="none" w="med" len="med"/>
                    </a:lnR>
                    <a:lnT w="9525" cap="flat" cmpd="sng" algn="ctr">
                      <a:solidFill>
                        <a:srgbClr val="CFE0B8"/>
                      </a:solidFill>
                      <a:prstDash val="solid"/>
                      <a:round/>
                      <a:headEnd type="none" w="med" len="med"/>
                      <a:tailEnd type="none" w="med" len="med"/>
                    </a:lnT>
                    <a:lnB w="9525" cap="flat" cmpd="sng" algn="ctr">
                      <a:solidFill>
                        <a:srgbClr val="CFE0B8"/>
                      </a:solidFill>
                      <a:prstDash val="solid"/>
                      <a:round/>
                      <a:headEnd type="none" w="med" len="med"/>
                      <a:tailEnd type="none" w="med" len="med"/>
                    </a:lnB>
                    <a:solidFill>
                      <a:srgbClr val="FFFFFF"/>
                    </a:solidFill>
                  </a:tcPr>
                </a:tc>
                <a:tc>
                  <a:txBody>
                    <a:bodyPr/>
                    <a:lstStyle/>
                    <a:p>
                      <a:pPr indent="0" marL="0">
                        <a:buNone/>
                      </a:pPr>
                      <a:r>
                        <a:rPr lang="en-US" sz="1250" dirty="0">
                          <a:solidFill>
                            <a:srgbClr val="1A2E1B"/>
                          </a:solidFill>
                          <a:latin typeface="Calibri" pitchFamily="34" charset="0"/>
                          <a:ea typeface="Calibri" pitchFamily="34" charset="-122"/>
                          <a:cs typeface="Calibri" pitchFamily="34" charset="-120"/>
                        </a:rPr>
                        <a:t>94 codes (LIV, SKI, IVC ...)</a:t>
                      </a:r>
                      <a:endParaRPr lang="en-US" sz="1250" dirty="0">
                        <a:latin typeface="Calibri" charset="0"/>
                        <a:ea typeface="Calibri" charset="0"/>
                        <a:cs typeface="Calibri" charset="0"/>
                      </a:endParaRPr>
                    </a:p>
                  </a:txBody>
                  <a:tcPr marL="91440" marR="91440" marT="45720" marB="45720" anchor="ctr">
                    <a:lnL w="9525" cap="flat" cmpd="sng" algn="ctr">
                      <a:solidFill>
                        <a:srgbClr val="CFE0B8"/>
                      </a:solidFill>
                      <a:prstDash val="solid"/>
                      <a:round/>
                      <a:headEnd type="none" w="med" len="med"/>
                      <a:tailEnd type="none" w="med" len="med"/>
                    </a:lnL>
                    <a:lnR w="9525" cap="flat" cmpd="sng" algn="ctr">
                      <a:solidFill>
                        <a:srgbClr val="CFE0B8"/>
                      </a:solidFill>
                      <a:prstDash val="solid"/>
                      <a:round/>
                      <a:headEnd type="none" w="med" len="med"/>
                      <a:tailEnd type="none" w="med" len="med"/>
                    </a:lnR>
                    <a:lnT w="9525" cap="flat" cmpd="sng" algn="ctr">
                      <a:solidFill>
                        <a:srgbClr val="CFE0B8"/>
                      </a:solidFill>
                      <a:prstDash val="solid"/>
                      <a:round/>
                      <a:headEnd type="none" w="med" len="med"/>
                      <a:tailEnd type="none" w="med" len="med"/>
                    </a:lnT>
                    <a:lnB w="9525" cap="flat" cmpd="sng" algn="ctr">
                      <a:solidFill>
                        <a:srgbClr val="CFE0B8"/>
                      </a:solidFill>
                      <a:prstDash val="solid"/>
                      <a:round/>
                      <a:headEnd type="none" w="med" len="med"/>
                      <a:tailEnd type="none" w="med" len="med"/>
                    </a:lnB>
                    <a:solidFill>
                      <a:srgbClr val="FFFFFF"/>
                    </a:solidFill>
                  </a:tcPr>
                </a:tc>
                <a:tc>
                  <a:txBody>
                    <a:bodyPr/>
                    <a:lstStyle/>
                    <a:p>
                      <a:pPr indent="0" marL="0">
                        <a:buNone/>
                      </a:pPr>
                      <a:r>
                        <a:rPr lang="en-US" sz="1250" dirty="0">
                          <a:solidFill>
                            <a:srgbClr val="1A2E1B"/>
                          </a:solidFill>
                          <a:latin typeface="Calibri" pitchFamily="34" charset="0"/>
                          <a:ea typeface="Calibri" pitchFamily="34" charset="-122"/>
                          <a:cs typeface="Calibri" pitchFamily="34" charset="-120"/>
                        </a:rPr>
                        <a:t>101 terms (live, skins ...)</a:t>
                      </a:r>
                      <a:endParaRPr lang="en-US" sz="1250" dirty="0">
                        <a:latin typeface="Calibri" charset="0"/>
                        <a:ea typeface="Calibri" charset="0"/>
                        <a:cs typeface="Calibri" charset="0"/>
                      </a:endParaRPr>
                    </a:p>
                  </a:txBody>
                  <a:tcPr marL="91440" marR="91440" marT="45720" marB="45720" anchor="ctr">
                    <a:lnL w="9525" cap="flat" cmpd="sng" algn="ctr">
                      <a:solidFill>
                        <a:srgbClr val="CFE0B8"/>
                      </a:solidFill>
                      <a:prstDash val="solid"/>
                      <a:round/>
                      <a:headEnd type="none" w="med" len="med"/>
                      <a:tailEnd type="none" w="med" len="med"/>
                    </a:lnL>
                    <a:lnR w="9525" cap="flat" cmpd="sng" algn="ctr">
                      <a:solidFill>
                        <a:srgbClr val="CFE0B8"/>
                      </a:solidFill>
                      <a:prstDash val="solid"/>
                      <a:round/>
                      <a:headEnd type="none" w="med" len="med"/>
                      <a:tailEnd type="none" w="med" len="med"/>
                    </a:lnR>
                    <a:lnT w="9525" cap="flat" cmpd="sng" algn="ctr">
                      <a:solidFill>
                        <a:srgbClr val="CFE0B8"/>
                      </a:solidFill>
                      <a:prstDash val="solid"/>
                      <a:round/>
                      <a:headEnd type="none" w="med" len="med"/>
                      <a:tailEnd type="none" w="med" len="med"/>
                    </a:lnT>
                    <a:lnB w="9525" cap="flat" cmpd="sng" algn="ctr">
                      <a:solidFill>
                        <a:srgbClr val="CFE0B8"/>
                      </a:solidFill>
                      <a:prstDash val="solid"/>
                      <a:round/>
                      <a:headEnd type="none" w="med" len="med"/>
                      <a:tailEnd type="none" w="med" len="med"/>
                    </a:lnB>
                    <a:solidFill>
                      <a:srgbClr val="FFFFFF"/>
                    </a:solidFill>
                  </a:tcPr>
                </a:tc>
                <a:tc>
                  <a:txBody>
                    <a:bodyPr/>
                    <a:lstStyle/>
                    <a:p>
                      <a:pPr indent="0" marL="0">
                        <a:buNone/>
                      </a:pPr>
                      <a:r>
                        <a:rPr lang="en-US" sz="1250" dirty="0">
                          <a:solidFill>
                            <a:srgbClr val="1A2E1B"/>
                          </a:solidFill>
                          <a:latin typeface="Calibri" pitchFamily="34" charset="0"/>
                          <a:ea typeface="Calibri" pitchFamily="34" charset="-122"/>
                          <a:cs typeface="Calibri" pitchFamily="34" charset="-120"/>
                        </a:rPr>
                        <a:t>31 product groups</a:t>
                      </a:r>
                      <a:endParaRPr lang="en-US" sz="1250" dirty="0">
                        <a:latin typeface="Calibri" charset="0"/>
                        <a:ea typeface="Calibri" charset="0"/>
                        <a:cs typeface="Calibri" charset="0"/>
                      </a:endParaRPr>
                    </a:p>
                  </a:txBody>
                  <a:tcPr marL="91440" marR="91440" marT="45720" marB="45720" anchor="ctr">
                    <a:lnL w="9525" cap="flat" cmpd="sng" algn="ctr">
                      <a:solidFill>
                        <a:srgbClr val="CFE0B8"/>
                      </a:solidFill>
                      <a:prstDash val="solid"/>
                      <a:round/>
                      <a:headEnd type="none" w="med" len="med"/>
                      <a:tailEnd type="none" w="med" len="med"/>
                    </a:lnL>
                    <a:lnR w="9525" cap="flat" cmpd="sng" algn="ctr">
                      <a:solidFill>
                        <a:srgbClr val="CFE0B8"/>
                      </a:solidFill>
                      <a:prstDash val="solid"/>
                      <a:round/>
                      <a:headEnd type="none" w="med" len="med"/>
                      <a:tailEnd type="none" w="med" len="med"/>
                    </a:lnR>
                    <a:lnT w="9525" cap="flat" cmpd="sng" algn="ctr">
                      <a:solidFill>
                        <a:srgbClr val="CFE0B8"/>
                      </a:solidFill>
                      <a:prstDash val="solid"/>
                      <a:round/>
                      <a:headEnd type="none" w="med" len="med"/>
                      <a:tailEnd type="none" w="med" len="med"/>
                    </a:lnT>
                    <a:lnB w="9525" cap="flat" cmpd="sng" algn="ctr">
                      <a:solidFill>
                        <a:srgbClr val="CFE0B8"/>
                      </a:solidFill>
                      <a:prstDash val="solid"/>
                      <a:round/>
                      <a:headEnd type="none" w="med" len="med"/>
                      <a:tailEnd type="none" w="med" len="med"/>
                    </a:lnB>
                    <a:solidFill>
                      <a:srgbClr val="FFFFFF"/>
                    </a:solidFill>
                  </a:tcPr>
                </a:tc>
              </a:tr>
              <a:tr h="475488">
                <a:tc>
                  <a:txBody>
                    <a:bodyPr/>
                    <a:lstStyle/>
                    <a:p>
                      <a:pPr indent="0" marL="0">
                        <a:buNone/>
                      </a:pPr>
                      <a:r>
                        <a:rPr lang="en-US" sz="1250" dirty="0">
                          <a:solidFill>
                            <a:srgbClr val="1A2E1B"/>
                          </a:solidFill>
                          <a:latin typeface="Calibri" pitchFamily="34" charset="0"/>
                          <a:ea typeface="Calibri" pitchFamily="34" charset="-122"/>
                          <a:cs typeface="Calibri" pitchFamily="34" charset="-120"/>
                        </a:rPr>
                        <a:t>Unit</a:t>
                      </a:r>
                      <a:endParaRPr lang="en-US" sz="1250" dirty="0">
                        <a:latin typeface="Calibri" charset="0"/>
                        <a:ea typeface="Calibri" charset="0"/>
                        <a:cs typeface="Calibri" charset="0"/>
                      </a:endParaRPr>
                    </a:p>
                  </a:txBody>
                  <a:tcPr marL="91440" marR="91440" marT="45720" marB="45720" anchor="ctr">
                    <a:lnL w="9525" cap="flat" cmpd="sng" algn="ctr">
                      <a:solidFill>
                        <a:srgbClr val="CFE0B8"/>
                      </a:solidFill>
                      <a:prstDash val="solid"/>
                      <a:round/>
                      <a:headEnd type="none" w="med" len="med"/>
                      <a:tailEnd type="none" w="med" len="med"/>
                    </a:lnL>
                    <a:lnR w="9525" cap="flat" cmpd="sng" algn="ctr">
                      <a:solidFill>
                        <a:srgbClr val="CFE0B8"/>
                      </a:solidFill>
                      <a:prstDash val="solid"/>
                      <a:round/>
                      <a:headEnd type="none" w="med" len="med"/>
                      <a:tailEnd type="none" w="med" len="med"/>
                    </a:lnR>
                    <a:lnT w="9525" cap="flat" cmpd="sng" algn="ctr">
                      <a:solidFill>
                        <a:srgbClr val="CFE0B8"/>
                      </a:solidFill>
                      <a:prstDash val="solid"/>
                      <a:round/>
                      <a:headEnd type="none" w="med" len="med"/>
                      <a:tailEnd type="none" w="med" len="med"/>
                    </a:lnT>
                    <a:lnB w="9525" cap="flat" cmpd="sng" algn="ctr">
                      <a:solidFill>
                        <a:srgbClr val="CFE0B8"/>
                      </a:solidFill>
                      <a:prstDash val="solid"/>
                      <a:round/>
                      <a:headEnd type="none" w="med" len="med"/>
                      <a:tailEnd type="none" w="med" len="med"/>
                    </a:lnB>
                    <a:solidFill>
                      <a:srgbClr val="FFFFFF"/>
                    </a:solidFill>
                  </a:tcPr>
                </a:tc>
                <a:tc>
                  <a:txBody>
                    <a:bodyPr/>
                    <a:lstStyle/>
                    <a:p>
                      <a:pPr indent="0" marL="0">
                        <a:buNone/>
                      </a:pPr>
                      <a:r>
                        <a:rPr lang="en-US" sz="1250" dirty="0">
                          <a:solidFill>
                            <a:srgbClr val="1A2E1B"/>
                          </a:solidFill>
                          <a:latin typeface="Calibri" pitchFamily="34" charset="0"/>
                          <a:ea typeface="Calibri" pitchFamily="34" charset="-122"/>
                          <a:cs typeface="Calibri" pitchFamily="34" charset="-120"/>
                        </a:rPr>
                        <a:t>NO, KG, GM, ML ...</a:t>
                      </a:r>
                      <a:endParaRPr lang="en-US" sz="1250" dirty="0">
                        <a:latin typeface="Calibri" charset="0"/>
                        <a:ea typeface="Calibri" charset="0"/>
                        <a:cs typeface="Calibri" charset="0"/>
                      </a:endParaRPr>
                    </a:p>
                  </a:txBody>
                  <a:tcPr marL="91440" marR="91440" marT="45720" marB="45720" anchor="ctr">
                    <a:lnL w="9525" cap="flat" cmpd="sng" algn="ctr">
                      <a:solidFill>
                        <a:srgbClr val="CFE0B8"/>
                      </a:solidFill>
                      <a:prstDash val="solid"/>
                      <a:round/>
                      <a:headEnd type="none" w="med" len="med"/>
                      <a:tailEnd type="none" w="med" len="med"/>
                    </a:lnL>
                    <a:lnR w="9525" cap="flat" cmpd="sng" algn="ctr">
                      <a:solidFill>
                        <a:srgbClr val="CFE0B8"/>
                      </a:solidFill>
                      <a:prstDash val="solid"/>
                      <a:round/>
                      <a:headEnd type="none" w="med" len="med"/>
                      <a:tailEnd type="none" w="med" len="med"/>
                    </a:lnR>
                    <a:lnT w="9525" cap="flat" cmpd="sng" algn="ctr">
                      <a:solidFill>
                        <a:srgbClr val="CFE0B8"/>
                      </a:solidFill>
                      <a:prstDash val="solid"/>
                      <a:round/>
                      <a:headEnd type="none" w="med" len="med"/>
                      <a:tailEnd type="none" w="med" len="med"/>
                    </a:lnT>
                    <a:lnB w="9525" cap="flat" cmpd="sng" algn="ctr">
                      <a:solidFill>
                        <a:srgbClr val="CFE0B8"/>
                      </a:solidFill>
                      <a:prstDash val="solid"/>
                      <a:round/>
                      <a:headEnd type="none" w="med" len="med"/>
                      <a:tailEnd type="none" w="med" len="med"/>
                    </a:lnB>
                    <a:solidFill>
                      <a:srgbClr val="FFFFFF"/>
                    </a:solidFill>
                  </a:tcPr>
                </a:tc>
                <a:tc>
                  <a:txBody>
                    <a:bodyPr/>
                    <a:lstStyle/>
                    <a:p>
                      <a:pPr indent="0" marL="0">
                        <a:buNone/>
                      </a:pPr>
                      <a:r>
                        <a:rPr lang="en-US" sz="1250" dirty="0">
                          <a:solidFill>
                            <a:srgbClr val="1A2E1B"/>
                          </a:solidFill>
                          <a:latin typeface="Calibri" pitchFamily="34" charset="0"/>
                          <a:ea typeface="Calibri" pitchFamily="34" charset="-122"/>
                          <a:cs typeface="Calibri" pitchFamily="34" charset="-120"/>
                        </a:rPr>
                        <a:t>kg, g, blank = number ...</a:t>
                      </a:r>
                      <a:endParaRPr lang="en-US" sz="1250" dirty="0">
                        <a:latin typeface="Calibri" charset="0"/>
                        <a:ea typeface="Calibri" charset="0"/>
                        <a:cs typeface="Calibri" charset="0"/>
                      </a:endParaRPr>
                    </a:p>
                  </a:txBody>
                  <a:tcPr marL="91440" marR="91440" marT="45720" marB="45720" anchor="ctr">
                    <a:lnL w="9525" cap="flat" cmpd="sng" algn="ctr">
                      <a:solidFill>
                        <a:srgbClr val="CFE0B8"/>
                      </a:solidFill>
                      <a:prstDash val="solid"/>
                      <a:round/>
                      <a:headEnd type="none" w="med" len="med"/>
                      <a:tailEnd type="none" w="med" len="med"/>
                    </a:lnL>
                    <a:lnR w="9525" cap="flat" cmpd="sng" algn="ctr">
                      <a:solidFill>
                        <a:srgbClr val="CFE0B8"/>
                      </a:solidFill>
                      <a:prstDash val="solid"/>
                      <a:round/>
                      <a:headEnd type="none" w="med" len="med"/>
                      <a:tailEnd type="none" w="med" len="med"/>
                    </a:lnR>
                    <a:lnT w="9525" cap="flat" cmpd="sng" algn="ctr">
                      <a:solidFill>
                        <a:srgbClr val="CFE0B8"/>
                      </a:solidFill>
                      <a:prstDash val="solid"/>
                      <a:round/>
                      <a:headEnd type="none" w="med" len="med"/>
                      <a:tailEnd type="none" w="med" len="med"/>
                    </a:lnT>
                    <a:lnB w="9525" cap="flat" cmpd="sng" algn="ctr">
                      <a:solidFill>
                        <a:srgbClr val="CFE0B8"/>
                      </a:solidFill>
                      <a:prstDash val="solid"/>
                      <a:round/>
                      <a:headEnd type="none" w="med" len="med"/>
                      <a:tailEnd type="none" w="med" len="med"/>
                    </a:lnB>
                    <a:solidFill>
                      <a:srgbClr val="FFFFFF"/>
                    </a:solidFill>
                  </a:tcPr>
                </a:tc>
                <a:tc>
                  <a:txBody>
                    <a:bodyPr/>
                    <a:lstStyle/>
                    <a:p>
                      <a:pPr indent="0" marL="0">
                        <a:buNone/>
                      </a:pPr>
                      <a:r>
                        <a:rPr lang="en-US" sz="1250" dirty="0">
                          <a:solidFill>
                            <a:srgbClr val="1A2E1B"/>
                          </a:solidFill>
                          <a:latin typeface="Calibri" pitchFamily="34" charset="0"/>
                          <a:ea typeface="Calibri" pitchFamily="34" charset="-122"/>
                          <a:cs typeface="Calibri" pitchFamily="34" charset="-120"/>
                        </a:rPr>
                        <a:t>count / kg / litre / m / m² / m³</a:t>
                      </a:r>
                      <a:endParaRPr lang="en-US" sz="1250" dirty="0">
                        <a:latin typeface="Calibri" charset="0"/>
                        <a:ea typeface="Calibri" charset="0"/>
                        <a:cs typeface="Calibri" charset="0"/>
                      </a:endParaRPr>
                    </a:p>
                  </a:txBody>
                  <a:tcPr marL="91440" marR="91440" marT="45720" marB="45720" anchor="ctr">
                    <a:lnL w="9525" cap="flat" cmpd="sng" algn="ctr">
                      <a:solidFill>
                        <a:srgbClr val="CFE0B8"/>
                      </a:solidFill>
                      <a:prstDash val="solid"/>
                      <a:round/>
                      <a:headEnd type="none" w="med" len="med"/>
                      <a:tailEnd type="none" w="med" len="med"/>
                    </a:lnL>
                    <a:lnR w="9525" cap="flat" cmpd="sng" algn="ctr">
                      <a:solidFill>
                        <a:srgbClr val="CFE0B8"/>
                      </a:solidFill>
                      <a:prstDash val="solid"/>
                      <a:round/>
                      <a:headEnd type="none" w="med" len="med"/>
                      <a:tailEnd type="none" w="med" len="med"/>
                    </a:lnR>
                    <a:lnT w="9525" cap="flat" cmpd="sng" algn="ctr">
                      <a:solidFill>
                        <a:srgbClr val="CFE0B8"/>
                      </a:solidFill>
                      <a:prstDash val="solid"/>
                      <a:round/>
                      <a:headEnd type="none" w="med" len="med"/>
                      <a:tailEnd type="none" w="med" len="med"/>
                    </a:lnT>
                    <a:lnB w="9525" cap="flat" cmpd="sng" algn="ctr">
                      <a:solidFill>
                        <a:srgbClr val="CFE0B8"/>
                      </a:solidFill>
                      <a:prstDash val="solid"/>
                      <a:round/>
                      <a:headEnd type="none" w="med" len="med"/>
                      <a:tailEnd type="none" w="med" len="med"/>
                    </a:lnB>
                    <a:solidFill>
                      <a:srgbClr val="FFFFFF"/>
                    </a:solidFill>
                  </a:tcPr>
                </a:tc>
              </a:tr>
              <a:tr h="475488">
                <a:tc>
                  <a:txBody>
                    <a:bodyPr/>
                    <a:lstStyle/>
                    <a:p>
                      <a:pPr indent="0" marL="0">
                        <a:buNone/>
                      </a:pPr>
                      <a:r>
                        <a:rPr lang="en-US" sz="1250" dirty="0">
                          <a:solidFill>
                            <a:srgbClr val="1A2E1B"/>
                          </a:solidFill>
                          <a:latin typeface="Calibri" pitchFamily="34" charset="0"/>
                          <a:ea typeface="Calibri" pitchFamily="34" charset="-122"/>
                          <a:cs typeface="Calibri" pitchFamily="34" charset="-120"/>
                        </a:rPr>
                        <a:t>Source, purpose</a:t>
                      </a:r>
                      <a:endParaRPr lang="en-US" sz="1250" dirty="0">
                        <a:latin typeface="Calibri" charset="0"/>
                        <a:ea typeface="Calibri" charset="0"/>
                        <a:cs typeface="Calibri" charset="0"/>
                      </a:endParaRPr>
                    </a:p>
                  </a:txBody>
                  <a:tcPr marL="91440" marR="91440" marT="45720" marB="45720" anchor="ctr">
                    <a:lnL w="9525" cap="flat" cmpd="sng" algn="ctr">
                      <a:solidFill>
                        <a:srgbClr val="CFE0B8"/>
                      </a:solidFill>
                      <a:prstDash val="solid"/>
                      <a:round/>
                      <a:headEnd type="none" w="med" len="med"/>
                      <a:tailEnd type="none" w="med" len="med"/>
                    </a:lnL>
                    <a:lnR w="9525" cap="flat" cmpd="sng" algn="ctr">
                      <a:solidFill>
                        <a:srgbClr val="CFE0B8"/>
                      </a:solidFill>
                      <a:prstDash val="solid"/>
                      <a:round/>
                      <a:headEnd type="none" w="med" len="med"/>
                      <a:tailEnd type="none" w="med" len="med"/>
                    </a:lnR>
                    <a:lnT w="9525" cap="flat" cmpd="sng" algn="ctr">
                      <a:solidFill>
                        <a:srgbClr val="CFE0B8"/>
                      </a:solidFill>
                      <a:prstDash val="solid"/>
                      <a:round/>
                      <a:headEnd type="none" w="med" len="med"/>
                      <a:tailEnd type="none" w="med" len="med"/>
                    </a:lnT>
                    <a:lnB w="9525" cap="flat" cmpd="sng" algn="ctr">
                      <a:solidFill>
                        <a:srgbClr val="CFE0B8"/>
                      </a:solidFill>
                      <a:prstDash val="solid"/>
                      <a:round/>
                      <a:headEnd type="none" w="med" len="med"/>
                      <a:tailEnd type="none" w="med" len="med"/>
                    </a:lnB>
                    <a:solidFill>
                      <a:srgbClr val="FFFFFF"/>
                    </a:solidFill>
                  </a:tcPr>
                </a:tc>
                <a:tc>
                  <a:txBody>
                    <a:bodyPr/>
                    <a:lstStyle/>
                    <a:p>
                      <a:pPr indent="0" marL="0">
                        <a:buNone/>
                      </a:pPr>
                      <a:r>
                        <a:rPr lang="en-US" sz="1250" dirty="0">
                          <a:solidFill>
                            <a:srgbClr val="1A2E1B"/>
                          </a:solidFill>
                          <a:latin typeface="Calibri" pitchFamily="34" charset="0"/>
                          <a:ea typeface="Calibri" pitchFamily="34" charset="-122"/>
                          <a:cs typeface="Calibri" pitchFamily="34" charset="-120"/>
                        </a:rPr>
                        <a:t>CITES letter codes</a:t>
                      </a:r>
                      <a:endParaRPr lang="en-US" sz="1250" dirty="0">
                        <a:latin typeface="Calibri" charset="0"/>
                        <a:ea typeface="Calibri" charset="0"/>
                        <a:cs typeface="Calibri" charset="0"/>
                      </a:endParaRPr>
                    </a:p>
                  </a:txBody>
                  <a:tcPr marL="91440" marR="91440" marT="45720" marB="45720" anchor="ctr">
                    <a:lnL w="9525" cap="flat" cmpd="sng" algn="ctr">
                      <a:solidFill>
                        <a:srgbClr val="CFE0B8"/>
                      </a:solidFill>
                      <a:prstDash val="solid"/>
                      <a:round/>
                      <a:headEnd type="none" w="med" len="med"/>
                      <a:tailEnd type="none" w="med" len="med"/>
                    </a:lnL>
                    <a:lnR w="9525" cap="flat" cmpd="sng" algn="ctr">
                      <a:solidFill>
                        <a:srgbClr val="CFE0B8"/>
                      </a:solidFill>
                      <a:prstDash val="solid"/>
                      <a:round/>
                      <a:headEnd type="none" w="med" len="med"/>
                      <a:tailEnd type="none" w="med" len="med"/>
                    </a:lnR>
                    <a:lnT w="9525" cap="flat" cmpd="sng" algn="ctr">
                      <a:solidFill>
                        <a:srgbClr val="CFE0B8"/>
                      </a:solidFill>
                      <a:prstDash val="solid"/>
                      <a:round/>
                      <a:headEnd type="none" w="med" len="med"/>
                      <a:tailEnd type="none" w="med" len="med"/>
                    </a:lnT>
                    <a:lnB w="9525" cap="flat" cmpd="sng" algn="ctr">
                      <a:solidFill>
                        <a:srgbClr val="CFE0B8"/>
                      </a:solidFill>
                      <a:prstDash val="solid"/>
                      <a:round/>
                      <a:headEnd type="none" w="med" len="med"/>
                      <a:tailEnd type="none" w="med" len="med"/>
                    </a:lnB>
                    <a:solidFill>
                      <a:srgbClr val="FFFFFF"/>
                    </a:solidFill>
                  </a:tcPr>
                </a:tc>
                <a:tc>
                  <a:txBody>
                    <a:bodyPr/>
                    <a:lstStyle/>
                    <a:p>
                      <a:pPr indent="0" marL="0">
                        <a:buNone/>
                      </a:pPr>
                      <a:r>
                        <a:rPr lang="en-US" sz="1250" dirty="0">
                          <a:solidFill>
                            <a:srgbClr val="1A2E1B"/>
                          </a:solidFill>
                          <a:latin typeface="Calibri" pitchFamily="34" charset="0"/>
                          <a:ea typeface="Calibri" pitchFamily="34" charset="-122"/>
                          <a:cs typeface="Calibri" pitchFamily="34" charset="-120"/>
                        </a:rPr>
                        <a:t>CITES letter codes</a:t>
                      </a:r>
                      <a:endParaRPr lang="en-US" sz="1250" dirty="0">
                        <a:latin typeface="Calibri" charset="0"/>
                        <a:ea typeface="Calibri" charset="0"/>
                        <a:cs typeface="Calibri" charset="0"/>
                      </a:endParaRPr>
                    </a:p>
                  </a:txBody>
                  <a:tcPr marL="91440" marR="91440" marT="45720" marB="45720" anchor="ctr">
                    <a:lnL w="9525" cap="flat" cmpd="sng" algn="ctr">
                      <a:solidFill>
                        <a:srgbClr val="CFE0B8"/>
                      </a:solidFill>
                      <a:prstDash val="solid"/>
                      <a:round/>
                      <a:headEnd type="none" w="med" len="med"/>
                      <a:tailEnd type="none" w="med" len="med"/>
                    </a:lnL>
                    <a:lnR w="9525" cap="flat" cmpd="sng" algn="ctr">
                      <a:solidFill>
                        <a:srgbClr val="CFE0B8"/>
                      </a:solidFill>
                      <a:prstDash val="solid"/>
                      <a:round/>
                      <a:headEnd type="none" w="med" len="med"/>
                      <a:tailEnd type="none" w="med" len="med"/>
                    </a:lnR>
                    <a:lnT w="9525" cap="flat" cmpd="sng" algn="ctr">
                      <a:solidFill>
                        <a:srgbClr val="CFE0B8"/>
                      </a:solidFill>
                      <a:prstDash val="solid"/>
                      <a:round/>
                      <a:headEnd type="none" w="med" len="med"/>
                      <a:tailEnd type="none" w="med" len="med"/>
                    </a:lnT>
                    <a:lnB w="9525" cap="flat" cmpd="sng" algn="ctr">
                      <a:solidFill>
                        <a:srgbClr val="CFE0B8"/>
                      </a:solidFill>
                      <a:prstDash val="solid"/>
                      <a:round/>
                      <a:headEnd type="none" w="med" len="med"/>
                      <a:tailEnd type="none" w="med" len="med"/>
                    </a:lnB>
                    <a:solidFill>
                      <a:srgbClr val="FFFFFF"/>
                    </a:solidFill>
                  </a:tcPr>
                </a:tc>
                <a:tc>
                  <a:txBody>
                    <a:bodyPr/>
                    <a:lstStyle/>
                    <a:p>
                      <a:pPr indent="0" marL="0">
                        <a:buNone/>
                      </a:pPr>
                      <a:r>
                        <a:rPr lang="en-US" sz="1250" dirty="0">
                          <a:solidFill>
                            <a:srgbClr val="1A2E1B"/>
                          </a:solidFill>
                          <a:latin typeface="Calibri" pitchFamily="34" charset="0"/>
                          <a:ea typeface="Calibri" pitchFamily="34" charset="-122"/>
                          <a:cs typeface="Calibri" pitchFamily="34" charset="-120"/>
                        </a:rPr>
                        <a:t>identical</a:t>
                      </a:r>
                      <a:endParaRPr lang="en-US" sz="1250" dirty="0">
                        <a:latin typeface="Calibri" charset="0"/>
                        <a:ea typeface="Calibri" charset="0"/>
                        <a:cs typeface="Calibri" charset="0"/>
                      </a:endParaRPr>
                    </a:p>
                  </a:txBody>
                  <a:tcPr marL="91440" marR="91440" marT="45720" marB="45720" anchor="ctr">
                    <a:lnL w="9525" cap="flat" cmpd="sng" algn="ctr">
                      <a:solidFill>
                        <a:srgbClr val="CFE0B8"/>
                      </a:solidFill>
                      <a:prstDash val="solid"/>
                      <a:round/>
                      <a:headEnd type="none" w="med" len="med"/>
                      <a:tailEnd type="none" w="med" len="med"/>
                    </a:lnL>
                    <a:lnR w="9525" cap="flat" cmpd="sng" algn="ctr">
                      <a:solidFill>
                        <a:srgbClr val="CFE0B8"/>
                      </a:solidFill>
                      <a:prstDash val="solid"/>
                      <a:round/>
                      <a:headEnd type="none" w="med" len="med"/>
                      <a:tailEnd type="none" w="med" len="med"/>
                    </a:lnR>
                    <a:lnT w="9525" cap="flat" cmpd="sng" algn="ctr">
                      <a:solidFill>
                        <a:srgbClr val="CFE0B8"/>
                      </a:solidFill>
                      <a:prstDash val="solid"/>
                      <a:round/>
                      <a:headEnd type="none" w="med" len="med"/>
                      <a:tailEnd type="none" w="med" len="med"/>
                    </a:lnT>
                    <a:lnB w="9525" cap="flat" cmpd="sng" algn="ctr">
                      <a:solidFill>
                        <a:srgbClr val="CFE0B8"/>
                      </a:solidFill>
                      <a:prstDash val="solid"/>
                      <a:round/>
                      <a:headEnd type="none" w="med" len="med"/>
                      <a:tailEnd type="none" w="med" len="med"/>
                    </a:lnB>
                    <a:solidFill>
                      <a:srgbClr val="FFFFFF"/>
                    </a:solidFill>
                  </a:tcPr>
                </a:tc>
              </a:tr>
              <a:tr h="475488">
                <a:tc>
                  <a:txBody>
                    <a:bodyPr/>
                    <a:lstStyle/>
                    <a:p>
                      <a:pPr indent="0" marL="0">
                        <a:buNone/>
                      </a:pPr>
                      <a:r>
                        <a:rPr lang="en-US" sz="1250" dirty="0">
                          <a:solidFill>
                            <a:srgbClr val="1A2E1B"/>
                          </a:solidFill>
                          <a:latin typeface="Calibri" pitchFamily="34" charset="0"/>
                          <a:ea typeface="Calibri" pitchFamily="34" charset="-122"/>
                          <a:cs typeface="Calibri" pitchFamily="34" charset="-120"/>
                        </a:rPr>
                        <a:t>Country</a:t>
                      </a:r>
                      <a:endParaRPr lang="en-US" sz="1250" dirty="0">
                        <a:latin typeface="Calibri" charset="0"/>
                        <a:ea typeface="Calibri" charset="0"/>
                        <a:cs typeface="Calibri" charset="0"/>
                      </a:endParaRPr>
                    </a:p>
                  </a:txBody>
                  <a:tcPr marL="91440" marR="91440" marT="45720" marB="45720" anchor="ctr">
                    <a:lnL w="9525" cap="flat" cmpd="sng" algn="ctr">
                      <a:solidFill>
                        <a:srgbClr val="CFE0B8"/>
                      </a:solidFill>
                      <a:prstDash val="solid"/>
                      <a:round/>
                      <a:headEnd type="none" w="med" len="med"/>
                      <a:tailEnd type="none" w="med" len="med"/>
                    </a:lnL>
                    <a:lnR w="9525" cap="flat" cmpd="sng" algn="ctr">
                      <a:solidFill>
                        <a:srgbClr val="CFE0B8"/>
                      </a:solidFill>
                      <a:prstDash val="solid"/>
                      <a:round/>
                      <a:headEnd type="none" w="med" len="med"/>
                      <a:tailEnd type="none" w="med" len="med"/>
                    </a:lnR>
                    <a:lnT w="9525" cap="flat" cmpd="sng" algn="ctr">
                      <a:solidFill>
                        <a:srgbClr val="CFE0B8"/>
                      </a:solidFill>
                      <a:prstDash val="solid"/>
                      <a:round/>
                      <a:headEnd type="none" w="med" len="med"/>
                      <a:tailEnd type="none" w="med" len="med"/>
                    </a:lnT>
                    <a:lnB w="9525" cap="flat" cmpd="sng" algn="ctr">
                      <a:solidFill>
                        <a:srgbClr val="CFE0B8"/>
                      </a:solidFill>
                      <a:prstDash val="solid"/>
                      <a:round/>
                      <a:headEnd type="none" w="med" len="med"/>
                      <a:tailEnd type="none" w="med" len="med"/>
                    </a:lnB>
                    <a:solidFill>
                      <a:srgbClr val="FFFFFF"/>
                    </a:solidFill>
                  </a:tcPr>
                </a:tc>
                <a:tc>
                  <a:txBody>
                    <a:bodyPr/>
                    <a:lstStyle/>
                    <a:p>
                      <a:pPr indent="0" marL="0">
                        <a:buNone/>
                      </a:pPr>
                      <a:r>
                        <a:rPr lang="en-US" sz="1250" dirty="0">
                          <a:solidFill>
                            <a:srgbClr val="1A2E1B"/>
                          </a:solidFill>
                          <a:latin typeface="Calibri" pitchFamily="34" charset="0"/>
                          <a:ea typeface="Calibri" pitchFamily="34" charset="-122"/>
                          <a:cs typeface="Calibri" pitchFamily="34" charset="-120"/>
                        </a:rPr>
                        <a:t>ISO-2</a:t>
                      </a:r>
                      <a:endParaRPr lang="en-US" sz="1250" dirty="0">
                        <a:latin typeface="Calibri" charset="0"/>
                        <a:ea typeface="Calibri" charset="0"/>
                        <a:cs typeface="Calibri" charset="0"/>
                      </a:endParaRPr>
                    </a:p>
                  </a:txBody>
                  <a:tcPr marL="91440" marR="91440" marT="45720" marB="45720" anchor="ctr">
                    <a:lnL w="9525" cap="flat" cmpd="sng" algn="ctr">
                      <a:solidFill>
                        <a:srgbClr val="CFE0B8"/>
                      </a:solidFill>
                      <a:prstDash val="solid"/>
                      <a:round/>
                      <a:headEnd type="none" w="med" len="med"/>
                      <a:tailEnd type="none" w="med" len="med"/>
                    </a:lnL>
                    <a:lnR w="9525" cap="flat" cmpd="sng" algn="ctr">
                      <a:solidFill>
                        <a:srgbClr val="CFE0B8"/>
                      </a:solidFill>
                      <a:prstDash val="solid"/>
                      <a:round/>
                      <a:headEnd type="none" w="med" len="med"/>
                      <a:tailEnd type="none" w="med" len="med"/>
                    </a:lnR>
                    <a:lnT w="9525" cap="flat" cmpd="sng" algn="ctr">
                      <a:solidFill>
                        <a:srgbClr val="CFE0B8"/>
                      </a:solidFill>
                      <a:prstDash val="solid"/>
                      <a:round/>
                      <a:headEnd type="none" w="med" len="med"/>
                      <a:tailEnd type="none" w="med" len="med"/>
                    </a:lnT>
                    <a:lnB w="9525" cap="flat" cmpd="sng" algn="ctr">
                      <a:solidFill>
                        <a:srgbClr val="CFE0B8"/>
                      </a:solidFill>
                      <a:prstDash val="solid"/>
                      <a:round/>
                      <a:headEnd type="none" w="med" len="med"/>
                      <a:tailEnd type="none" w="med" len="med"/>
                    </a:lnB>
                    <a:solidFill>
                      <a:srgbClr val="FFFFFF"/>
                    </a:solidFill>
                  </a:tcPr>
                </a:tc>
                <a:tc>
                  <a:txBody>
                    <a:bodyPr/>
                    <a:lstStyle/>
                    <a:p>
                      <a:pPr indent="0" marL="0">
                        <a:buNone/>
                      </a:pPr>
                      <a:r>
                        <a:rPr lang="en-US" sz="1250" dirty="0">
                          <a:solidFill>
                            <a:srgbClr val="1A2E1B"/>
                          </a:solidFill>
                          <a:latin typeface="Calibri" pitchFamily="34" charset="0"/>
                          <a:ea typeface="Calibri" pitchFamily="34" charset="-122"/>
                          <a:cs typeface="Calibri" pitchFamily="34" charset="-120"/>
                        </a:rPr>
                        <a:t>ISO-2</a:t>
                      </a:r>
                      <a:endParaRPr lang="en-US" sz="1250" dirty="0">
                        <a:latin typeface="Calibri" charset="0"/>
                        <a:ea typeface="Calibri" charset="0"/>
                        <a:cs typeface="Calibri" charset="0"/>
                      </a:endParaRPr>
                    </a:p>
                  </a:txBody>
                  <a:tcPr marL="91440" marR="91440" marT="45720" marB="45720" anchor="ctr">
                    <a:lnL w="9525" cap="flat" cmpd="sng" algn="ctr">
                      <a:solidFill>
                        <a:srgbClr val="CFE0B8"/>
                      </a:solidFill>
                      <a:prstDash val="solid"/>
                      <a:round/>
                      <a:headEnd type="none" w="med" len="med"/>
                      <a:tailEnd type="none" w="med" len="med"/>
                    </a:lnL>
                    <a:lnR w="9525" cap="flat" cmpd="sng" algn="ctr">
                      <a:solidFill>
                        <a:srgbClr val="CFE0B8"/>
                      </a:solidFill>
                      <a:prstDash val="solid"/>
                      <a:round/>
                      <a:headEnd type="none" w="med" len="med"/>
                      <a:tailEnd type="none" w="med" len="med"/>
                    </a:lnR>
                    <a:lnT w="9525" cap="flat" cmpd="sng" algn="ctr">
                      <a:solidFill>
                        <a:srgbClr val="CFE0B8"/>
                      </a:solidFill>
                      <a:prstDash val="solid"/>
                      <a:round/>
                      <a:headEnd type="none" w="med" len="med"/>
                      <a:tailEnd type="none" w="med" len="med"/>
                    </a:lnT>
                    <a:lnB w="9525" cap="flat" cmpd="sng" algn="ctr">
                      <a:solidFill>
                        <a:srgbClr val="CFE0B8"/>
                      </a:solidFill>
                      <a:prstDash val="solid"/>
                      <a:round/>
                      <a:headEnd type="none" w="med" len="med"/>
                      <a:tailEnd type="none" w="med" len="med"/>
                    </a:lnB>
                    <a:solidFill>
                      <a:srgbClr val="FFFFFF"/>
                    </a:solidFill>
                  </a:tcPr>
                </a:tc>
                <a:tc>
                  <a:txBody>
                    <a:bodyPr/>
                    <a:lstStyle/>
                    <a:p>
                      <a:pPr indent="0" marL="0">
                        <a:buNone/>
                      </a:pPr>
                      <a:r>
                        <a:rPr lang="en-US" sz="1250" dirty="0">
                          <a:solidFill>
                            <a:srgbClr val="1A2E1B"/>
                          </a:solidFill>
                          <a:latin typeface="Calibri" pitchFamily="34" charset="0"/>
                          <a:ea typeface="Calibri" pitchFamily="34" charset="-122"/>
                          <a:cs typeface="Calibri" pitchFamily="34" charset="-120"/>
                        </a:rPr>
                        <a:t>identical + world region</a:t>
                      </a:r>
                      <a:endParaRPr lang="en-US" sz="1250" dirty="0">
                        <a:latin typeface="Calibri" charset="0"/>
                        <a:ea typeface="Calibri" charset="0"/>
                        <a:cs typeface="Calibri" charset="0"/>
                      </a:endParaRPr>
                    </a:p>
                  </a:txBody>
                  <a:tcPr marL="91440" marR="91440" marT="45720" marB="45720" anchor="ctr">
                    <a:lnL w="9525" cap="flat" cmpd="sng" algn="ctr">
                      <a:solidFill>
                        <a:srgbClr val="CFE0B8"/>
                      </a:solidFill>
                      <a:prstDash val="solid"/>
                      <a:round/>
                      <a:headEnd type="none" w="med" len="med"/>
                      <a:tailEnd type="none" w="med" len="med"/>
                    </a:lnL>
                    <a:lnR w="9525" cap="flat" cmpd="sng" algn="ctr">
                      <a:solidFill>
                        <a:srgbClr val="CFE0B8"/>
                      </a:solidFill>
                      <a:prstDash val="solid"/>
                      <a:round/>
                      <a:headEnd type="none" w="med" len="med"/>
                      <a:tailEnd type="none" w="med" len="med"/>
                    </a:lnR>
                    <a:lnT w="9525" cap="flat" cmpd="sng" algn="ctr">
                      <a:solidFill>
                        <a:srgbClr val="CFE0B8"/>
                      </a:solidFill>
                      <a:prstDash val="solid"/>
                      <a:round/>
                      <a:headEnd type="none" w="med" len="med"/>
                      <a:tailEnd type="none" w="med" len="med"/>
                    </a:lnT>
                    <a:lnB w="9525" cap="flat" cmpd="sng" algn="ctr">
                      <a:solidFill>
                        <a:srgbClr val="CFE0B8"/>
                      </a:solidFill>
                      <a:prstDash val="solid"/>
                      <a:round/>
                      <a:headEnd type="none" w="med" len="med"/>
                      <a:tailEnd type="none" w="med" len="med"/>
                    </a:lnB>
                    <a:solidFill>
                      <a:srgbClr val="FFFFFF"/>
                    </a:solidFill>
                  </a:tcPr>
                </a:tc>
              </a:tr>
              <a:tr h="475488">
                <a:tc>
                  <a:txBody>
                    <a:bodyPr/>
                    <a:lstStyle/>
                    <a:p>
                      <a:pPr indent="0" marL="0">
                        <a:buNone/>
                      </a:pPr>
                      <a:r>
                        <a:rPr lang="en-US" sz="1250" dirty="0">
                          <a:solidFill>
                            <a:srgbClr val="1A2E1B"/>
                          </a:solidFill>
                          <a:latin typeface="Calibri" pitchFamily="34" charset="0"/>
                          <a:ea typeface="Calibri" pitchFamily="34" charset="-122"/>
                          <a:cs typeface="Calibri" pitchFamily="34" charset="-120"/>
                        </a:rPr>
                        <a:t>CITES appendix</a:t>
                      </a:r>
                      <a:endParaRPr lang="en-US" sz="1250" dirty="0">
                        <a:latin typeface="Calibri" charset="0"/>
                        <a:ea typeface="Calibri" charset="0"/>
                        <a:cs typeface="Calibri" charset="0"/>
                      </a:endParaRPr>
                    </a:p>
                  </a:txBody>
                  <a:tcPr marL="91440" marR="91440" marT="45720" marB="45720" anchor="ctr">
                    <a:lnL w="9525" cap="flat" cmpd="sng" algn="ctr">
                      <a:solidFill>
                        <a:srgbClr val="CFE0B8"/>
                      </a:solidFill>
                      <a:prstDash val="solid"/>
                      <a:round/>
                      <a:headEnd type="none" w="med" len="med"/>
                      <a:tailEnd type="none" w="med" len="med"/>
                    </a:lnL>
                    <a:lnR w="9525" cap="flat" cmpd="sng" algn="ctr">
                      <a:solidFill>
                        <a:srgbClr val="CFE0B8"/>
                      </a:solidFill>
                      <a:prstDash val="solid"/>
                      <a:round/>
                      <a:headEnd type="none" w="med" len="med"/>
                      <a:tailEnd type="none" w="med" len="med"/>
                    </a:lnR>
                    <a:lnT w="9525" cap="flat" cmpd="sng" algn="ctr">
                      <a:solidFill>
                        <a:srgbClr val="CFE0B8"/>
                      </a:solidFill>
                      <a:prstDash val="solid"/>
                      <a:round/>
                      <a:headEnd type="none" w="med" len="med"/>
                      <a:tailEnd type="none" w="med" len="med"/>
                    </a:lnT>
                    <a:lnB w="9525" cap="flat" cmpd="sng" algn="ctr">
                      <a:solidFill>
                        <a:srgbClr val="CFE0B8"/>
                      </a:solidFill>
                      <a:prstDash val="solid"/>
                      <a:round/>
                      <a:headEnd type="none" w="med" len="med"/>
                      <a:tailEnd type="none" w="med" len="med"/>
                    </a:lnB>
                    <a:solidFill>
                      <a:srgbClr val="FFFFFF"/>
                    </a:solidFill>
                  </a:tcPr>
                </a:tc>
                <a:tc>
                  <a:txBody>
                    <a:bodyPr/>
                    <a:lstStyle/>
                    <a:p>
                      <a:pPr indent="0" marL="0">
                        <a:buNone/>
                      </a:pPr>
                      <a:r>
                        <a:rPr lang="en-US" sz="1250" dirty="0">
                          <a:solidFill>
                            <a:srgbClr val="1A2E1B"/>
                          </a:solidFill>
                          <a:latin typeface="Calibri" pitchFamily="34" charset="0"/>
                          <a:ea typeface="Calibri" pitchFamily="34" charset="-122"/>
                          <a:cs typeface="Calibri" pitchFamily="34" charset="-120"/>
                        </a:rPr>
                        <a:t>not recorded</a:t>
                      </a:r>
                      <a:endParaRPr lang="en-US" sz="1250" dirty="0">
                        <a:latin typeface="Calibri" charset="0"/>
                        <a:ea typeface="Calibri" charset="0"/>
                        <a:cs typeface="Calibri" charset="0"/>
                      </a:endParaRPr>
                    </a:p>
                  </a:txBody>
                  <a:tcPr marL="91440" marR="91440" marT="45720" marB="45720" anchor="ctr">
                    <a:lnL w="9525" cap="flat" cmpd="sng" algn="ctr">
                      <a:solidFill>
                        <a:srgbClr val="CFE0B8"/>
                      </a:solidFill>
                      <a:prstDash val="solid"/>
                      <a:round/>
                      <a:headEnd type="none" w="med" len="med"/>
                      <a:tailEnd type="none" w="med" len="med"/>
                    </a:lnL>
                    <a:lnR w="9525" cap="flat" cmpd="sng" algn="ctr">
                      <a:solidFill>
                        <a:srgbClr val="CFE0B8"/>
                      </a:solidFill>
                      <a:prstDash val="solid"/>
                      <a:round/>
                      <a:headEnd type="none" w="med" len="med"/>
                      <a:tailEnd type="none" w="med" len="med"/>
                    </a:lnR>
                    <a:lnT w="9525" cap="flat" cmpd="sng" algn="ctr">
                      <a:solidFill>
                        <a:srgbClr val="CFE0B8"/>
                      </a:solidFill>
                      <a:prstDash val="solid"/>
                      <a:round/>
                      <a:headEnd type="none" w="med" len="med"/>
                      <a:tailEnd type="none" w="med" len="med"/>
                    </a:lnT>
                    <a:lnB w="9525" cap="flat" cmpd="sng" algn="ctr">
                      <a:solidFill>
                        <a:srgbClr val="CFE0B8"/>
                      </a:solidFill>
                      <a:prstDash val="solid"/>
                      <a:round/>
                      <a:headEnd type="none" w="med" len="med"/>
                      <a:tailEnd type="none" w="med" len="med"/>
                    </a:lnB>
                    <a:solidFill>
                      <a:srgbClr val="FFFFFF"/>
                    </a:solidFill>
                  </a:tcPr>
                </a:tc>
                <a:tc>
                  <a:txBody>
                    <a:bodyPr/>
                    <a:lstStyle/>
                    <a:p>
                      <a:pPr indent="0" marL="0">
                        <a:buNone/>
                      </a:pPr>
                      <a:r>
                        <a:rPr lang="en-US" sz="1250" dirty="0">
                          <a:solidFill>
                            <a:srgbClr val="1A2E1B"/>
                          </a:solidFill>
                          <a:latin typeface="Calibri" pitchFamily="34" charset="0"/>
                          <a:ea typeface="Calibri" pitchFamily="34" charset="-122"/>
                          <a:cs typeface="Calibri" pitchFamily="34" charset="-120"/>
                        </a:rPr>
                        <a:t>recorded</a:t>
                      </a:r>
                      <a:endParaRPr lang="en-US" sz="1250" dirty="0">
                        <a:latin typeface="Calibri" charset="0"/>
                        <a:ea typeface="Calibri" charset="0"/>
                        <a:cs typeface="Calibri" charset="0"/>
                      </a:endParaRPr>
                    </a:p>
                  </a:txBody>
                  <a:tcPr marL="91440" marR="91440" marT="45720" marB="45720" anchor="ctr">
                    <a:lnL w="9525" cap="flat" cmpd="sng" algn="ctr">
                      <a:solidFill>
                        <a:srgbClr val="CFE0B8"/>
                      </a:solidFill>
                      <a:prstDash val="solid"/>
                      <a:round/>
                      <a:headEnd type="none" w="med" len="med"/>
                      <a:tailEnd type="none" w="med" len="med"/>
                    </a:lnL>
                    <a:lnR w="9525" cap="flat" cmpd="sng" algn="ctr">
                      <a:solidFill>
                        <a:srgbClr val="CFE0B8"/>
                      </a:solidFill>
                      <a:prstDash val="solid"/>
                      <a:round/>
                      <a:headEnd type="none" w="med" len="med"/>
                      <a:tailEnd type="none" w="med" len="med"/>
                    </a:lnR>
                    <a:lnT w="9525" cap="flat" cmpd="sng" algn="ctr">
                      <a:solidFill>
                        <a:srgbClr val="CFE0B8"/>
                      </a:solidFill>
                      <a:prstDash val="solid"/>
                      <a:round/>
                      <a:headEnd type="none" w="med" len="med"/>
                      <a:tailEnd type="none" w="med" len="med"/>
                    </a:lnT>
                    <a:lnB w="9525" cap="flat" cmpd="sng" algn="ctr">
                      <a:solidFill>
                        <a:srgbClr val="CFE0B8"/>
                      </a:solidFill>
                      <a:prstDash val="solid"/>
                      <a:round/>
                      <a:headEnd type="none" w="med" len="med"/>
                      <a:tailEnd type="none" w="med" len="med"/>
                    </a:lnB>
                    <a:solidFill>
                      <a:srgbClr val="FFFFFF"/>
                    </a:solidFill>
                  </a:tcPr>
                </a:tc>
                <a:tc>
                  <a:txBody>
                    <a:bodyPr/>
                    <a:lstStyle/>
                    <a:p>
                      <a:pPr indent="0" marL="0">
                        <a:buNone/>
                      </a:pPr>
                      <a:r>
                        <a:rPr lang="en-US" sz="1250" dirty="0">
                          <a:solidFill>
                            <a:srgbClr val="1A2E1B"/>
                          </a:solidFill>
                          <a:latin typeface="Calibri" pitchFamily="34" charset="0"/>
                          <a:ea typeface="Calibri" pitchFamily="34" charset="-122"/>
                          <a:cs typeface="Calibri" pitchFamily="34" charset="-120"/>
                        </a:rPr>
                        <a:t>looked up for LEMIS taxa</a:t>
                      </a:r>
                      <a:endParaRPr lang="en-US" sz="1250" dirty="0">
                        <a:latin typeface="Calibri" charset="0"/>
                        <a:ea typeface="Calibri" charset="0"/>
                        <a:cs typeface="Calibri" charset="0"/>
                      </a:endParaRPr>
                    </a:p>
                  </a:txBody>
                  <a:tcPr marL="91440" marR="91440" marT="45720" marB="45720" anchor="ctr">
                    <a:lnL w="9525" cap="flat" cmpd="sng" algn="ctr">
                      <a:solidFill>
                        <a:srgbClr val="CFE0B8"/>
                      </a:solidFill>
                      <a:prstDash val="solid"/>
                      <a:round/>
                      <a:headEnd type="none" w="med" len="med"/>
                      <a:tailEnd type="none" w="med" len="med"/>
                    </a:lnL>
                    <a:lnR w="9525" cap="flat" cmpd="sng" algn="ctr">
                      <a:solidFill>
                        <a:srgbClr val="CFE0B8"/>
                      </a:solidFill>
                      <a:prstDash val="solid"/>
                      <a:round/>
                      <a:headEnd type="none" w="med" len="med"/>
                      <a:tailEnd type="none" w="med" len="med"/>
                    </a:lnR>
                    <a:lnT w="9525" cap="flat" cmpd="sng" algn="ctr">
                      <a:solidFill>
                        <a:srgbClr val="CFE0B8"/>
                      </a:solidFill>
                      <a:prstDash val="solid"/>
                      <a:round/>
                      <a:headEnd type="none" w="med" len="med"/>
                      <a:tailEnd type="none" w="med" len="med"/>
                    </a:lnT>
                    <a:lnB w="9525" cap="flat" cmpd="sng" algn="ctr">
                      <a:solidFill>
                        <a:srgbClr val="CFE0B8"/>
                      </a:solidFill>
                      <a:prstDash val="solid"/>
                      <a:round/>
                      <a:headEnd type="none" w="med" len="med"/>
                      <a:tailEnd type="none" w="med" len="med"/>
                    </a:lnB>
                    <a:solidFill>
                      <a:srgbClr val="FFFFFF"/>
                    </a:solidFill>
                  </a:tcPr>
                </a:tc>
              </a:tr>
              <a:tr h="475488">
                <a:tc>
                  <a:txBody>
                    <a:bodyPr/>
                    <a:lstStyle/>
                    <a:p>
                      <a:pPr indent="0" marL="0">
                        <a:buNone/>
                      </a:pPr>
                      <a:r>
                        <a:rPr lang="en-US" sz="1250" dirty="0">
                          <a:solidFill>
                            <a:srgbClr val="1A2E1B"/>
                          </a:solidFill>
                          <a:latin typeface="Calibri" pitchFamily="34" charset="0"/>
                          <a:ea typeface="Calibri" pitchFamily="34" charset="-122"/>
                          <a:cs typeface="Calibri" pitchFamily="34" charset="-120"/>
                        </a:rPr>
                        <a:t>Declared value</a:t>
                      </a:r>
                      <a:endParaRPr lang="en-US" sz="1250" dirty="0">
                        <a:latin typeface="Calibri" charset="0"/>
                        <a:ea typeface="Calibri" charset="0"/>
                        <a:cs typeface="Calibri" charset="0"/>
                      </a:endParaRPr>
                    </a:p>
                  </a:txBody>
                  <a:tcPr marL="91440" marR="91440" marT="45720" marB="45720" anchor="ctr">
                    <a:lnL w="9525" cap="flat" cmpd="sng" algn="ctr">
                      <a:solidFill>
                        <a:srgbClr val="CFE0B8"/>
                      </a:solidFill>
                      <a:prstDash val="solid"/>
                      <a:round/>
                      <a:headEnd type="none" w="med" len="med"/>
                      <a:tailEnd type="none" w="med" len="med"/>
                    </a:lnL>
                    <a:lnR w="9525" cap="flat" cmpd="sng" algn="ctr">
                      <a:solidFill>
                        <a:srgbClr val="CFE0B8"/>
                      </a:solidFill>
                      <a:prstDash val="solid"/>
                      <a:round/>
                      <a:headEnd type="none" w="med" len="med"/>
                      <a:tailEnd type="none" w="med" len="med"/>
                    </a:lnR>
                    <a:lnT w="9525" cap="flat" cmpd="sng" algn="ctr">
                      <a:solidFill>
                        <a:srgbClr val="CFE0B8"/>
                      </a:solidFill>
                      <a:prstDash val="solid"/>
                      <a:round/>
                      <a:headEnd type="none" w="med" len="med"/>
                      <a:tailEnd type="none" w="med" len="med"/>
                    </a:lnT>
                    <a:lnB w="9525" cap="flat" cmpd="sng" algn="ctr">
                      <a:solidFill>
                        <a:srgbClr val="CFE0B8"/>
                      </a:solidFill>
                      <a:prstDash val="solid"/>
                      <a:round/>
                      <a:headEnd type="none" w="med" len="med"/>
                      <a:tailEnd type="none" w="med" len="med"/>
                    </a:lnB>
                    <a:solidFill>
                      <a:srgbClr val="FFFFFF"/>
                    </a:solidFill>
                  </a:tcPr>
                </a:tc>
                <a:tc>
                  <a:txBody>
                    <a:bodyPr/>
                    <a:lstStyle/>
                    <a:p>
                      <a:pPr indent="0" marL="0">
                        <a:buNone/>
                      </a:pPr>
                      <a:r>
                        <a:rPr lang="en-US" sz="1250" dirty="0">
                          <a:solidFill>
                            <a:srgbClr val="1A2E1B"/>
                          </a:solidFill>
                          <a:latin typeface="Calibri" pitchFamily="34" charset="0"/>
                          <a:ea typeface="Calibri" pitchFamily="34" charset="-122"/>
                          <a:cs typeface="Calibri" pitchFamily="34" charset="-120"/>
                        </a:rPr>
                        <a:t>yes (USD)</a:t>
                      </a:r>
                      <a:endParaRPr lang="en-US" sz="1250" dirty="0">
                        <a:latin typeface="Calibri" charset="0"/>
                        <a:ea typeface="Calibri" charset="0"/>
                        <a:cs typeface="Calibri" charset="0"/>
                      </a:endParaRPr>
                    </a:p>
                  </a:txBody>
                  <a:tcPr marL="91440" marR="91440" marT="45720" marB="45720" anchor="ctr">
                    <a:lnL w="9525" cap="flat" cmpd="sng" algn="ctr">
                      <a:solidFill>
                        <a:srgbClr val="CFE0B8"/>
                      </a:solidFill>
                      <a:prstDash val="solid"/>
                      <a:round/>
                      <a:headEnd type="none" w="med" len="med"/>
                      <a:tailEnd type="none" w="med" len="med"/>
                    </a:lnL>
                    <a:lnR w="9525" cap="flat" cmpd="sng" algn="ctr">
                      <a:solidFill>
                        <a:srgbClr val="CFE0B8"/>
                      </a:solidFill>
                      <a:prstDash val="solid"/>
                      <a:round/>
                      <a:headEnd type="none" w="med" len="med"/>
                      <a:tailEnd type="none" w="med" len="med"/>
                    </a:lnR>
                    <a:lnT w="9525" cap="flat" cmpd="sng" algn="ctr">
                      <a:solidFill>
                        <a:srgbClr val="CFE0B8"/>
                      </a:solidFill>
                      <a:prstDash val="solid"/>
                      <a:round/>
                      <a:headEnd type="none" w="med" len="med"/>
                      <a:tailEnd type="none" w="med" len="med"/>
                    </a:lnT>
                    <a:lnB w="9525" cap="flat" cmpd="sng" algn="ctr">
                      <a:solidFill>
                        <a:srgbClr val="CFE0B8"/>
                      </a:solidFill>
                      <a:prstDash val="solid"/>
                      <a:round/>
                      <a:headEnd type="none" w="med" len="med"/>
                      <a:tailEnd type="none" w="med" len="med"/>
                    </a:lnB>
                    <a:solidFill>
                      <a:srgbClr val="FFFFFF"/>
                    </a:solidFill>
                  </a:tcPr>
                </a:tc>
                <a:tc>
                  <a:txBody>
                    <a:bodyPr/>
                    <a:lstStyle/>
                    <a:p>
                      <a:pPr indent="0" marL="0">
                        <a:buNone/>
                      </a:pPr>
                      <a:r>
                        <a:rPr lang="en-US" sz="1250" dirty="0">
                          <a:solidFill>
                            <a:srgbClr val="1A2E1B"/>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9525" cap="flat" cmpd="sng" algn="ctr">
                      <a:solidFill>
                        <a:srgbClr val="CFE0B8"/>
                      </a:solidFill>
                      <a:prstDash val="solid"/>
                      <a:round/>
                      <a:headEnd type="none" w="med" len="med"/>
                      <a:tailEnd type="none" w="med" len="med"/>
                    </a:lnL>
                    <a:lnR w="9525" cap="flat" cmpd="sng" algn="ctr">
                      <a:solidFill>
                        <a:srgbClr val="CFE0B8"/>
                      </a:solidFill>
                      <a:prstDash val="solid"/>
                      <a:round/>
                      <a:headEnd type="none" w="med" len="med"/>
                      <a:tailEnd type="none" w="med" len="med"/>
                    </a:lnR>
                    <a:lnT w="9525" cap="flat" cmpd="sng" algn="ctr">
                      <a:solidFill>
                        <a:srgbClr val="CFE0B8"/>
                      </a:solidFill>
                      <a:prstDash val="solid"/>
                      <a:round/>
                      <a:headEnd type="none" w="med" len="med"/>
                      <a:tailEnd type="none" w="med" len="med"/>
                    </a:lnT>
                    <a:lnB w="9525" cap="flat" cmpd="sng" algn="ctr">
                      <a:solidFill>
                        <a:srgbClr val="CFE0B8"/>
                      </a:solidFill>
                      <a:prstDash val="solid"/>
                      <a:round/>
                      <a:headEnd type="none" w="med" len="med"/>
                      <a:tailEnd type="none" w="med" len="med"/>
                    </a:lnB>
                    <a:solidFill>
                      <a:srgbClr val="FFFFFF"/>
                    </a:solidFill>
                  </a:tcPr>
                </a:tc>
                <a:tc>
                  <a:txBody>
                    <a:bodyPr/>
                    <a:lstStyle/>
                    <a:p>
                      <a:pPr indent="0" marL="0">
                        <a:buNone/>
                      </a:pPr>
                      <a:r>
                        <a:rPr lang="en-US" sz="1250" dirty="0">
                          <a:solidFill>
                            <a:srgbClr val="1A2E1B"/>
                          </a:solidFill>
                          <a:latin typeface="Calibri" pitchFamily="34" charset="0"/>
                          <a:ea typeface="Calibri" pitchFamily="34" charset="-122"/>
                          <a:cs typeface="Calibri" pitchFamily="34" charset="-120"/>
                        </a:rPr>
                        <a:t>LEMIS-only model</a:t>
                      </a:r>
                      <a:endParaRPr lang="en-US" sz="1250" dirty="0">
                        <a:latin typeface="Calibri" charset="0"/>
                        <a:ea typeface="Calibri" charset="0"/>
                        <a:cs typeface="Calibri" charset="0"/>
                      </a:endParaRPr>
                    </a:p>
                  </a:txBody>
                  <a:tcPr marL="91440" marR="91440" marT="45720" marB="45720" anchor="ctr">
                    <a:lnL w="9525" cap="flat" cmpd="sng" algn="ctr">
                      <a:solidFill>
                        <a:srgbClr val="CFE0B8"/>
                      </a:solidFill>
                      <a:prstDash val="solid"/>
                      <a:round/>
                      <a:headEnd type="none" w="med" len="med"/>
                      <a:tailEnd type="none" w="med" len="med"/>
                    </a:lnL>
                    <a:lnR w="9525" cap="flat" cmpd="sng" algn="ctr">
                      <a:solidFill>
                        <a:srgbClr val="CFE0B8"/>
                      </a:solidFill>
                      <a:prstDash val="solid"/>
                      <a:round/>
                      <a:headEnd type="none" w="med" len="med"/>
                      <a:tailEnd type="none" w="med" len="med"/>
                    </a:lnR>
                    <a:lnT w="9525" cap="flat" cmpd="sng" algn="ctr">
                      <a:solidFill>
                        <a:srgbClr val="CFE0B8"/>
                      </a:solidFill>
                      <a:prstDash val="solid"/>
                      <a:round/>
                      <a:headEnd type="none" w="med" len="med"/>
                      <a:tailEnd type="none" w="med" len="med"/>
                    </a:lnT>
                    <a:lnB w="9525" cap="flat" cmpd="sng" algn="ctr">
                      <a:solidFill>
                        <a:srgbClr val="CFE0B8"/>
                      </a:solidFill>
                      <a:prstDash val="solid"/>
                      <a:round/>
                      <a:headEnd type="none" w="med" len="med"/>
                      <a:tailEnd type="none" w="med" len="med"/>
                    </a:lnB>
                    <a:solidFill>
                      <a:srgbClr val="FFFFFF"/>
                    </a:solidFill>
                  </a:tcPr>
                </a:tc>
              </a:tr>
            </a:tbl>
          </a:graphicData>
        </a:graphic>
      </p:graphicFrame>
      <p:sp>
        <p:nvSpPr>
          <p:cNvPr id="5" name="Shape 1"/>
          <p:cNvSpPr/>
          <p:nvPr/>
        </p:nvSpPr>
        <p:spPr>
          <a:xfrm>
            <a:off x="8229600" y="1325880"/>
            <a:ext cx="3383280" cy="4526280"/>
          </a:xfrm>
          <a:prstGeom prst="roundRect">
            <a:avLst>
              <a:gd name="adj" fmla="val 2162"/>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6" name="Text 2"/>
          <p:cNvSpPr txBox="1"/>
          <p:nvPr/>
        </p:nvSpPr>
        <p:spPr>
          <a:xfrm>
            <a:off x="8503920" y="1508760"/>
            <a:ext cx="2926080" cy="411480"/>
          </a:xfrm>
          <a:prstGeom prst="rect">
            <a:avLst/>
          </a:prstGeom>
          <a:noFill/>
          <a:ln/>
        </p:spPr>
        <p:txBody>
          <a:bodyPr wrap="square" lIns="0" tIns="0" rIns="0" bIns="0" rtlCol="0" anchor="t"/>
          <a:lstStyle/>
          <a:p>
            <a:pPr indent="0" marL="0">
              <a:buNone/>
            </a:pPr>
            <a:r>
              <a:rPr lang="en-US" sz="1800" b="1" dirty="0">
                <a:solidFill>
                  <a:srgbClr val="2C5F2D"/>
                </a:solidFill>
                <a:latin typeface="Cambria" pitchFamily="34" charset="0"/>
                <a:ea typeface="Cambria" pitchFamily="34" charset="-122"/>
                <a:cs typeface="Cambria" pitchFamily="34" charset="-120"/>
              </a:rPr>
              <a:t>Alignment check</a:t>
            </a:r>
            <a:endParaRPr lang="en-US" sz="1800" dirty="0"/>
          </a:p>
        </p:txBody>
      </p:sp>
      <p:sp>
        <p:nvSpPr>
          <p:cNvPr id="7" name="Text 3"/>
          <p:cNvSpPr txBox="1"/>
          <p:nvPr/>
        </p:nvSpPr>
        <p:spPr>
          <a:xfrm>
            <a:off x="8503920" y="1920240"/>
            <a:ext cx="2926080" cy="685800"/>
          </a:xfrm>
          <a:prstGeom prst="rect">
            <a:avLst/>
          </a:prstGeom>
          <a:noFill/>
          <a:ln/>
        </p:spPr>
        <p:txBody>
          <a:bodyPr wrap="square" lIns="0" tIns="0" rIns="0" bIns="0" rtlCol="0" anchor="t"/>
          <a:lstStyle/>
          <a:p>
            <a:pPr indent="0" marL="0">
              <a:buNone/>
            </a:pPr>
            <a:r>
              <a:rPr lang="en-US" sz="1250" i="1" dirty="0">
                <a:solidFill>
                  <a:srgbClr val="6E7F6F"/>
                </a:solidFill>
                <a:latin typeface="Calibri" pitchFamily="34" charset="0"/>
                <a:ea typeface="Calibri" pitchFamily="34" charset="-122"/>
                <a:cs typeface="Calibri" pitchFamily="34" charset="-120"/>
              </a:rPr>
              <a:t>Can a classifier tell the datasets apart? (AUC 0.5 = indistinguishable)</a:t>
            </a:r>
            <a:endParaRPr lang="en-US" sz="1250" dirty="0"/>
          </a:p>
        </p:txBody>
      </p:sp>
      <p:sp>
        <p:nvSpPr>
          <p:cNvPr id="8" name="Text 4"/>
          <p:cNvSpPr txBox="1"/>
          <p:nvPr/>
        </p:nvSpPr>
        <p:spPr>
          <a:xfrm>
            <a:off x="8503920" y="2697480"/>
            <a:ext cx="2926080" cy="640080"/>
          </a:xfrm>
          <a:prstGeom prst="rect">
            <a:avLst/>
          </a:prstGeom>
          <a:noFill/>
          <a:ln/>
        </p:spPr>
        <p:txBody>
          <a:bodyPr wrap="square" lIns="0" tIns="0" rIns="0" bIns="0" rtlCol="0" anchor="t"/>
          <a:lstStyle/>
          <a:p>
            <a:pPr indent="0" marL="0">
              <a:buNone/>
            </a:pPr>
            <a:r>
              <a:rPr lang="en-US" sz="3400" b="1" dirty="0">
                <a:solidFill>
                  <a:srgbClr val="2C5F2D"/>
                </a:solidFill>
                <a:latin typeface="Cambria" pitchFamily="34" charset="0"/>
                <a:ea typeface="Cambria" pitchFamily="34" charset="-122"/>
                <a:cs typeface="Cambria" pitchFamily="34" charset="-120"/>
              </a:rPr>
              <a:t>0.771</a:t>
            </a:r>
            <a:endParaRPr lang="en-US" sz="3400" dirty="0"/>
          </a:p>
        </p:txBody>
      </p:sp>
      <p:sp>
        <p:nvSpPr>
          <p:cNvPr id="9" name="Text 5"/>
          <p:cNvSpPr txBox="1"/>
          <p:nvPr/>
        </p:nvSpPr>
        <p:spPr>
          <a:xfrm>
            <a:off x="8503920" y="3337560"/>
            <a:ext cx="2926080" cy="685800"/>
          </a:xfrm>
          <a:prstGeom prst="rect">
            <a:avLst/>
          </a:prstGeom>
          <a:noFill/>
          <a:ln/>
        </p:spPr>
        <p:txBody>
          <a:bodyPr wrap="square" lIns="0" tIns="0" rIns="0" bIns="0" rtlCol="0" anchor="t"/>
          <a:lstStyle/>
          <a:p>
            <a:pPr indent="0" marL="0">
              <a:buNone/>
            </a:pPr>
            <a:r>
              <a:rPr lang="en-US" sz="1250" dirty="0">
                <a:solidFill>
                  <a:srgbClr val="445645"/>
                </a:solidFill>
                <a:latin typeface="Calibri" pitchFamily="34" charset="0"/>
                <a:ea typeface="Calibri" pitchFamily="34" charset="-122"/>
                <a:cs typeface="Calibri" pitchFamily="34" charset="-120"/>
              </a:rPr>
              <a:t>LEMIS (CITES-listed) vs US-reported CITES, same years</a:t>
            </a:r>
            <a:endParaRPr lang="en-US" sz="1250" dirty="0"/>
          </a:p>
        </p:txBody>
      </p:sp>
      <p:sp>
        <p:nvSpPr>
          <p:cNvPr id="10" name="Text 6"/>
          <p:cNvSpPr txBox="1"/>
          <p:nvPr/>
        </p:nvSpPr>
        <p:spPr>
          <a:xfrm>
            <a:off x="8503920" y="4206240"/>
            <a:ext cx="2926080" cy="640080"/>
          </a:xfrm>
          <a:prstGeom prst="rect">
            <a:avLst/>
          </a:prstGeom>
          <a:noFill/>
          <a:ln/>
        </p:spPr>
        <p:txBody>
          <a:bodyPr wrap="square" lIns="0" tIns="0" rIns="0" bIns="0" rtlCol="0" anchor="t"/>
          <a:lstStyle/>
          <a:p>
            <a:pPr indent="0" marL="0">
              <a:buNone/>
            </a:pPr>
            <a:r>
              <a:rPr lang="en-US" sz="3400" b="1" dirty="0">
                <a:solidFill>
                  <a:srgbClr val="B5651D"/>
                </a:solidFill>
                <a:latin typeface="Cambria" pitchFamily="34" charset="0"/>
                <a:ea typeface="Cambria" pitchFamily="34" charset="-122"/>
                <a:cs typeface="Cambria" pitchFamily="34" charset="-120"/>
              </a:rPr>
              <a:t>0.967</a:t>
            </a:r>
            <a:endParaRPr lang="en-US" sz="3400" dirty="0"/>
          </a:p>
        </p:txBody>
      </p:sp>
      <p:sp>
        <p:nvSpPr>
          <p:cNvPr id="11" name="Text 7"/>
          <p:cNvSpPr txBox="1"/>
          <p:nvPr/>
        </p:nvSpPr>
        <p:spPr>
          <a:xfrm>
            <a:off x="8503920" y="4846320"/>
            <a:ext cx="2926080" cy="685800"/>
          </a:xfrm>
          <a:prstGeom prst="rect">
            <a:avLst/>
          </a:prstGeom>
          <a:noFill/>
          <a:ln/>
        </p:spPr>
        <p:txBody>
          <a:bodyPr wrap="square" lIns="0" tIns="0" rIns="0" bIns="0" rtlCol="0" anchor="t"/>
          <a:lstStyle/>
          <a:p>
            <a:pPr indent="0" marL="0">
              <a:buNone/>
            </a:pPr>
            <a:r>
              <a:rPr lang="en-US" sz="1250" dirty="0">
                <a:solidFill>
                  <a:srgbClr val="445645"/>
                </a:solidFill>
                <a:latin typeface="Calibri" pitchFamily="34" charset="0"/>
                <a:ea typeface="Calibri" pitchFamily="34" charset="-122"/>
                <a:cs typeface="Calibri" pitchFamily="34" charset="-120"/>
              </a:rPr>
              <a:t>LEMIS vs global CITES 2015-2024 - the real shift</a:t>
            </a:r>
            <a:endParaRPr lang="en-US" sz="1250" dirty="0"/>
          </a:p>
        </p:txBody>
      </p:sp>
      <p:sp>
        <p:nvSpPr>
          <p:cNvPr id="25" name="Slide Number Placeholder 0"/>
          <p:cNvSpPr>
            <a:spLocks noGrp="1"/>
          </p:cNvSpPr>
          <p:nvPr>
            <p:ph type="sldNum" sz="quarter" idx="4294967295"/>
          </p:nvPr>
        </p:nvSpPr>
        <p:spPr>
          <a:xfrm>
            <a:off x="1132301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6F"/>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0362895" cy="685800"/>
          </a:xfrm>
          <a:prstGeom prst="rect">
            <a:avLst/>
          </a:prstGeom>
          <a:noFill/>
          <a:ln/>
        </p:spPr>
        <p:txBody>
          <a:bodyPr wrap="square" lIns="0" tIns="0" rIns="0" bIns="0" rtlCol="0" anchor="ctr"/>
          <a:lstStyle/>
          <a:p>
            <a:pPr algn="l" indent="0" marL="0">
              <a:buNone/>
            </a:pPr>
            <a:r>
              <a:rPr lang="en-US" sz="3000" b="1" dirty="0">
                <a:solidFill>
                  <a:srgbClr val="2C5F2D"/>
                </a:solidFill>
                <a:latin typeface="Cambria" pitchFamily="34" charset="0"/>
                <a:ea typeface="Cambria" pitchFamily="34" charset="-122"/>
                <a:cs typeface="Cambria" pitchFamily="34" charset="-120"/>
              </a:rPr>
              <a:t>System design</a:t>
            </a:r>
            <a:endParaRPr lang="en-US" sz="3000" dirty="0"/>
          </a:p>
        </p:txBody>
      </p:sp>
      <p:pic>
        <p:nvPicPr>
          <p:cNvPr id="4" name="Image 0" descr="/Users/adhithi.m/Desktop/Masters Class Notes &amp; Review/1st Year/Pattern Recognition Systems/PRS Practice Module/PRS-PM-Group-37-WildGuard/SYSTEM CODE/outputs/figures/system_architecture.png">    </p:cNvPr>
          <p:cNvPicPr>
            <a:picLocks noChangeAspect="1"/>
          </p:cNvPicPr>
          <p:nvPr/>
        </p:nvPicPr>
        <p:blipFill>
          <a:blip r:embed="rId1"/>
          <a:stretch>
            <a:fillRect/>
          </a:stretch>
        </p:blipFill>
        <p:spPr>
          <a:xfrm>
            <a:off x="502920" y="1300558"/>
            <a:ext cx="11155680" cy="4805524"/>
          </a:xfrm>
          <a:prstGeom prst="rect">
            <a:avLst/>
          </a:prstGeom>
        </p:spPr>
      </p:pic>
      <p:sp>
        <p:nvSpPr>
          <p:cNvPr id="25" name="Slide Number Placeholder 0"/>
          <p:cNvSpPr>
            <a:spLocks noGrp="1"/>
          </p:cNvSpPr>
          <p:nvPr>
            <p:ph type="sldNum" sz="quarter" idx="4294967295"/>
          </p:nvPr>
        </p:nvSpPr>
        <p:spPr>
          <a:xfrm>
            <a:off x="1132301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6F"/>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0362895" cy="685800"/>
          </a:xfrm>
          <a:prstGeom prst="rect">
            <a:avLst/>
          </a:prstGeom>
          <a:noFill/>
          <a:ln/>
        </p:spPr>
        <p:txBody>
          <a:bodyPr wrap="square" lIns="0" tIns="0" rIns="0" bIns="0" rtlCol="0" anchor="ctr"/>
          <a:lstStyle/>
          <a:p>
            <a:pPr algn="l" indent="0" marL="0">
              <a:buNone/>
            </a:pPr>
            <a:r>
              <a:rPr lang="en-US" sz="3000" b="1" dirty="0">
                <a:solidFill>
                  <a:srgbClr val="2C5F2D"/>
                </a:solidFill>
                <a:latin typeface="Cambria" pitchFamily="34" charset="0"/>
                <a:ea typeface="Cambria" pitchFamily="34" charset="-122"/>
                <a:cs typeface="Cambria" pitchFamily="34" charset="-120"/>
              </a:rPr>
              <a:t>Pattern-recognition techniques, mapped to the module</a:t>
            </a:r>
            <a:endParaRPr lang="en-US" sz="3000" dirty="0"/>
          </a:p>
        </p:txBody>
      </p:sp>
      <p:sp>
        <p:nvSpPr>
          <p:cNvPr id="4" name="Shape 1"/>
          <p:cNvSpPr/>
          <p:nvPr/>
        </p:nvSpPr>
        <p:spPr>
          <a:xfrm>
            <a:off x="548640" y="1325880"/>
            <a:ext cx="5440680" cy="2103120"/>
          </a:xfrm>
          <a:prstGeom prst="roundRect">
            <a:avLst>
              <a:gd name="adj" fmla="val 3478"/>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5" name="Shape 2"/>
          <p:cNvSpPr/>
          <p:nvPr/>
        </p:nvSpPr>
        <p:spPr>
          <a:xfrm>
            <a:off x="822960" y="1600200"/>
            <a:ext cx="731520" cy="731520"/>
          </a:xfrm>
          <a:prstGeom prst="ellipse">
            <a:avLst/>
          </a:prstGeom>
          <a:solidFill>
            <a:srgbClr val="2C5F2D"/>
          </a:solidFill>
          <a:ln w="12700">
            <a:solidFill>
              <a:srgbClr val="2C5F2D"/>
            </a:solidFill>
            <a:prstDash val="solid"/>
          </a:ln>
        </p:spPr>
      </p:sp>
      <p:pic>
        <p:nvPicPr>
          <p:cNvPr id="6" name="Image 0" descr="/private/tmp/claude-503/-Users-adhithi-m-Desktop-Masters-Class-Notes---Review-1st-Year-Pattern-Recognition-Systems/3d956fe8-3803-4740-9b99-087bcc38d79c/scratchpad/deck/first_deck/ppt/media/image3.png">    </p:cNvPr>
          <p:cNvPicPr>
            <a:picLocks noChangeAspect="1"/>
          </p:cNvPicPr>
          <p:nvPr/>
        </p:nvPicPr>
        <p:blipFill>
          <a:blip r:embed="rId1"/>
          <a:stretch>
            <a:fillRect/>
          </a:stretch>
        </p:blipFill>
        <p:spPr>
          <a:xfrm>
            <a:off x="983894" y="1761134"/>
            <a:ext cx="409651" cy="409651"/>
          </a:xfrm>
          <a:prstGeom prst="rect">
            <a:avLst/>
          </a:prstGeom>
        </p:spPr>
      </p:pic>
      <p:sp>
        <p:nvSpPr>
          <p:cNvPr id="7" name="Text 3"/>
          <p:cNvSpPr txBox="1"/>
          <p:nvPr/>
        </p:nvSpPr>
        <p:spPr>
          <a:xfrm>
            <a:off x="1737360" y="1645920"/>
            <a:ext cx="4023360" cy="411480"/>
          </a:xfrm>
          <a:prstGeom prst="rect">
            <a:avLst/>
          </a:prstGeom>
          <a:noFill/>
          <a:ln/>
        </p:spPr>
        <p:txBody>
          <a:bodyPr wrap="square" lIns="0" tIns="0" rIns="0" bIns="0" rtlCol="0" anchor="t"/>
          <a:lstStyle/>
          <a:p>
            <a:pPr indent="0" marL="0">
              <a:buNone/>
            </a:pPr>
            <a:r>
              <a:rPr lang="en-US" sz="1900" b="1" dirty="0">
                <a:solidFill>
                  <a:srgbClr val="2C5F2D"/>
                </a:solidFill>
                <a:latin typeface="Cambria" pitchFamily="34" charset="0"/>
                <a:ea typeface="Cambria" pitchFamily="34" charset="-122"/>
                <a:cs typeface="Cambria" pitchFamily="34" charset="-120"/>
              </a:rPr>
              <a:t>Supervised + unsupervised</a:t>
            </a:r>
            <a:endParaRPr lang="en-US" sz="1900" dirty="0"/>
          </a:p>
        </p:txBody>
      </p:sp>
      <p:sp>
        <p:nvSpPr>
          <p:cNvPr id="8" name="Text 4"/>
          <p:cNvSpPr txBox="1"/>
          <p:nvPr/>
        </p:nvSpPr>
        <p:spPr>
          <a:xfrm>
            <a:off x="1737360" y="2103120"/>
            <a:ext cx="4069080" cy="1234440"/>
          </a:xfrm>
          <a:prstGeom prst="rect">
            <a:avLst/>
          </a:prstGeom>
          <a:noFill/>
          <a:ln/>
        </p:spPr>
        <p:txBody>
          <a:bodyPr wrap="square" lIns="0" tIns="0" rIns="0" bIns="0" rtlCol="0" anchor="t"/>
          <a:lstStyle/>
          <a:p>
            <a:pPr indent="0" marL="0">
              <a:buNone/>
            </a:pPr>
            <a:r>
              <a:rPr lang="en-US" sz="1400" dirty="0">
                <a:solidFill>
                  <a:srgbClr val="445645"/>
                </a:solidFill>
                <a:latin typeface="Calibri" pitchFamily="34" charset="0"/>
                <a:ea typeface="Calibri" pitchFamily="34" charset="-122"/>
                <a:cs typeface="Calibri" pitchFamily="34" charset="-120"/>
              </a:rPr>
              <a:t>XGBoost, Random Forest, Logistic Regression on LEMIS outcomes; peer-deviation z-score, Isolation Forest, K-Means distance without labels</a:t>
            </a:r>
            <a:endParaRPr lang="en-US" sz="1400" dirty="0"/>
          </a:p>
        </p:txBody>
      </p:sp>
      <p:sp>
        <p:nvSpPr>
          <p:cNvPr id="9" name="Shape 5"/>
          <p:cNvSpPr/>
          <p:nvPr/>
        </p:nvSpPr>
        <p:spPr>
          <a:xfrm>
            <a:off x="6172200" y="1325880"/>
            <a:ext cx="5440680" cy="2103120"/>
          </a:xfrm>
          <a:prstGeom prst="roundRect">
            <a:avLst>
              <a:gd name="adj" fmla="val 3478"/>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0" name="Shape 6"/>
          <p:cNvSpPr/>
          <p:nvPr/>
        </p:nvSpPr>
        <p:spPr>
          <a:xfrm>
            <a:off x="6446520" y="1600200"/>
            <a:ext cx="731520" cy="731520"/>
          </a:xfrm>
          <a:prstGeom prst="ellipse">
            <a:avLst/>
          </a:prstGeom>
          <a:solidFill>
            <a:srgbClr val="2C5F2D"/>
          </a:solidFill>
          <a:ln w="12700">
            <a:solidFill>
              <a:srgbClr val="2C5F2D"/>
            </a:solidFill>
            <a:prstDash val="solid"/>
          </a:ln>
        </p:spPr>
      </p:sp>
      <p:pic>
        <p:nvPicPr>
          <p:cNvPr id="11" name="Image 1" descr="/private/tmp/claude-503/-Users-adhithi-m-Desktop-Masters-Class-Notes---Review-1st-Year-Pattern-Recognition-Systems/3d956fe8-3803-4740-9b99-087bcc38d79c/scratchpad/deck/first_deck/ppt/media/image6.png">    </p:cNvPr>
          <p:cNvPicPr>
            <a:picLocks noChangeAspect="1"/>
          </p:cNvPicPr>
          <p:nvPr/>
        </p:nvPicPr>
        <p:blipFill>
          <a:blip r:embed="rId2"/>
          <a:stretch>
            <a:fillRect/>
          </a:stretch>
        </p:blipFill>
        <p:spPr>
          <a:xfrm>
            <a:off x="6607454" y="1761134"/>
            <a:ext cx="409651" cy="409651"/>
          </a:xfrm>
          <a:prstGeom prst="rect">
            <a:avLst/>
          </a:prstGeom>
        </p:spPr>
      </p:pic>
      <p:sp>
        <p:nvSpPr>
          <p:cNvPr id="12" name="Text 7"/>
          <p:cNvSpPr txBox="1"/>
          <p:nvPr/>
        </p:nvSpPr>
        <p:spPr>
          <a:xfrm>
            <a:off x="7360920" y="1645920"/>
            <a:ext cx="4023360" cy="411480"/>
          </a:xfrm>
          <a:prstGeom prst="rect">
            <a:avLst/>
          </a:prstGeom>
          <a:noFill/>
          <a:ln/>
        </p:spPr>
        <p:txBody>
          <a:bodyPr wrap="square" lIns="0" tIns="0" rIns="0" bIns="0" rtlCol="0" anchor="t"/>
          <a:lstStyle/>
          <a:p>
            <a:pPr indent="0" marL="0">
              <a:buNone/>
            </a:pPr>
            <a:r>
              <a:rPr lang="en-US" sz="1900" b="1" dirty="0">
                <a:solidFill>
                  <a:srgbClr val="2C5F2D"/>
                </a:solidFill>
                <a:latin typeface="Cambria" pitchFamily="34" charset="0"/>
                <a:ea typeface="Cambria" pitchFamily="34" charset="-122"/>
                <a:cs typeface="Cambria" pitchFamily="34" charset="-120"/>
              </a:rPr>
              <a:t>Machine-learning techniques</a:t>
            </a:r>
            <a:endParaRPr lang="en-US" sz="1900" dirty="0"/>
          </a:p>
        </p:txBody>
      </p:sp>
      <p:sp>
        <p:nvSpPr>
          <p:cNvPr id="13" name="Text 8"/>
          <p:cNvSpPr txBox="1"/>
          <p:nvPr/>
        </p:nvSpPr>
        <p:spPr>
          <a:xfrm>
            <a:off x="7360920" y="2103120"/>
            <a:ext cx="4069080" cy="1234440"/>
          </a:xfrm>
          <a:prstGeom prst="rect">
            <a:avLst/>
          </a:prstGeom>
          <a:noFill/>
          <a:ln/>
        </p:spPr>
        <p:txBody>
          <a:bodyPr wrap="square" lIns="0" tIns="0" rIns="0" bIns="0" rtlCol="0" anchor="t"/>
          <a:lstStyle/>
          <a:p>
            <a:pPr indent="0" marL="0">
              <a:buNone/>
            </a:pPr>
            <a:r>
              <a:rPr lang="en-US" sz="1400" dirty="0">
                <a:solidFill>
                  <a:srgbClr val="445645"/>
                </a:solidFill>
                <a:latin typeface="Calibri" pitchFamily="34" charset="0"/>
                <a:ea typeface="Calibri" pitchFamily="34" charset="-122"/>
                <a:cs typeface="Calibri" pitchFamily="34" charset="-120"/>
              </a:rPr>
              <a:t>Gradient boosting with early stopping; bagging; K-Means (k=12 by silhouette, stability ARI 0.65); isolation-based outlier detection</a:t>
            </a:r>
            <a:endParaRPr lang="en-US" sz="1400" dirty="0"/>
          </a:p>
        </p:txBody>
      </p:sp>
      <p:sp>
        <p:nvSpPr>
          <p:cNvPr id="14" name="Shape 9"/>
          <p:cNvSpPr/>
          <p:nvPr/>
        </p:nvSpPr>
        <p:spPr>
          <a:xfrm>
            <a:off x="548640" y="3657600"/>
            <a:ext cx="5440680" cy="2103120"/>
          </a:xfrm>
          <a:prstGeom prst="roundRect">
            <a:avLst>
              <a:gd name="adj" fmla="val 3478"/>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5" name="Shape 10"/>
          <p:cNvSpPr/>
          <p:nvPr/>
        </p:nvSpPr>
        <p:spPr>
          <a:xfrm>
            <a:off x="822960" y="3931920"/>
            <a:ext cx="731520" cy="731520"/>
          </a:xfrm>
          <a:prstGeom prst="ellipse">
            <a:avLst/>
          </a:prstGeom>
          <a:solidFill>
            <a:srgbClr val="2C5F2D"/>
          </a:solidFill>
          <a:ln w="12700">
            <a:solidFill>
              <a:srgbClr val="2C5F2D"/>
            </a:solidFill>
            <a:prstDash val="solid"/>
          </a:ln>
        </p:spPr>
      </p:sp>
      <p:pic>
        <p:nvPicPr>
          <p:cNvPr id="16" name="Image 2" descr="/private/tmp/claude-503/-Users-adhithi-m-Desktop-Masters-Class-Notes---Review-1st-Year-Pattern-Recognition-Systems/3d956fe8-3803-4740-9b99-087bcc38d79c/scratchpad/deck/first_deck/ppt/media/image5.png">    </p:cNvPr>
          <p:cNvPicPr>
            <a:picLocks noChangeAspect="1"/>
          </p:cNvPicPr>
          <p:nvPr/>
        </p:nvPicPr>
        <p:blipFill>
          <a:blip r:embed="rId3"/>
          <a:stretch>
            <a:fillRect/>
          </a:stretch>
        </p:blipFill>
        <p:spPr>
          <a:xfrm>
            <a:off x="983894" y="4092854"/>
            <a:ext cx="409651" cy="409651"/>
          </a:xfrm>
          <a:prstGeom prst="rect">
            <a:avLst/>
          </a:prstGeom>
        </p:spPr>
      </p:pic>
      <p:sp>
        <p:nvSpPr>
          <p:cNvPr id="17" name="Text 11"/>
          <p:cNvSpPr txBox="1"/>
          <p:nvPr/>
        </p:nvSpPr>
        <p:spPr>
          <a:xfrm>
            <a:off x="1737360" y="3977640"/>
            <a:ext cx="4023360" cy="411480"/>
          </a:xfrm>
          <a:prstGeom prst="rect">
            <a:avLst/>
          </a:prstGeom>
          <a:noFill/>
          <a:ln/>
        </p:spPr>
        <p:txBody>
          <a:bodyPr wrap="square" lIns="0" tIns="0" rIns="0" bIns="0" rtlCol="0" anchor="t"/>
          <a:lstStyle/>
          <a:p>
            <a:pPr indent="0" marL="0">
              <a:buNone/>
            </a:pPr>
            <a:r>
              <a:rPr lang="en-US" sz="1900" b="1" dirty="0">
                <a:solidFill>
                  <a:srgbClr val="2C5F2D"/>
                </a:solidFill>
                <a:latin typeface="Cambria" pitchFamily="34" charset="0"/>
                <a:ea typeface="Cambria" pitchFamily="34" charset="-122"/>
                <a:cs typeface="Cambria" pitchFamily="34" charset="-120"/>
              </a:rPr>
              <a:t>Hybrid / ensemble</a:t>
            </a:r>
            <a:endParaRPr lang="en-US" sz="1900" dirty="0"/>
          </a:p>
        </p:txBody>
      </p:sp>
      <p:sp>
        <p:nvSpPr>
          <p:cNvPr id="18" name="Text 12"/>
          <p:cNvSpPr txBox="1"/>
          <p:nvPr/>
        </p:nvSpPr>
        <p:spPr>
          <a:xfrm>
            <a:off x="1737360" y="4434840"/>
            <a:ext cx="4069080" cy="1234440"/>
          </a:xfrm>
          <a:prstGeom prst="rect">
            <a:avLst/>
          </a:prstGeom>
          <a:noFill/>
          <a:ln/>
        </p:spPr>
        <p:txBody>
          <a:bodyPr wrap="square" lIns="0" tIns="0" rIns="0" bIns="0" rtlCol="0" anchor="t"/>
          <a:lstStyle/>
          <a:p>
            <a:pPr indent="0" marL="0">
              <a:buNone/>
            </a:pPr>
            <a:r>
              <a:rPr lang="en-US" sz="1400" dirty="0">
                <a:solidFill>
                  <a:srgbClr val="445645"/>
                </a:solidFill>
                <a:latin typeface="Calibri" pitchFamily="34" charset="0"/>
                <a:ea typeface="Calibri" pitchFamily="34" charset="-122"/>
                <a:cs typeface="Calibri" pitchFamily="34" charset="-120"/>
              </a:rPr>
              <a:t>Tree ensembles + a stacked logistic meta-learner over supervised and unsupervised signals, fitted on separate validation years</a:t>
            </a:r>
            <a:endParaRPr lang="en-US" sz="1400" dirty="0"/>
          </a:p>
        </p:txBody>
      </p:sp>
      <p:sp>
        <p:nvSpPr>
          <p:cNvPr id="19" name="Shape 13"/>
          <p:cNvSpPr/>
          <p:nvPr/>
        </p:nvSpPr>
        <p:spPr>
          <a:xfrm>
            <a:off x="6172200" y="3657600"/>
            <a:ext cx="5440680" cy="2103120"/>
          </a:xfrm>
          <a:prstGeom prst="roundRect">
            <a:avLst>
              <a:gd name="adj" fmla="val 3478"/>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20" name="Shape 14"/>
          <p:cNvSpPr/>
          <p:nvPr/>
        </p:nvSpPr>
        <p:spPr>
          <a:xfrm>
            <a:off x="6446520" y="3931920"/>
            <a:ext cx="731520" cy="731520"/>
          </a:xfrm>
          <a:prstGeom prst="ellipse">
            <a:avLst/>
          </a:prstGeom>
          <a:solidFill>
            <a:srgbClr val="2C5F2D"/>
          </a:solidFill>
          <a:ln w="12700">
            <a:solidFill>
              <a:srgbClr val="2C5F2D"/>
            </a:solidFill>
            <a:prstDash val="solid"/>
          </a:ln>
        </p:spPr>
      </p:sp>
      <p:pic>
        <p:nvPicPr>
          <p:cNvPr id="21" name="Image 3" descr="/private/tmp/claude-503/-Users-adhithi-m-Desktop-Masters-Class-Notes---Review-1st-Year-Pattern-Recognition-Systems/3d956fe8-3803-4740-9b99-087bcc38d79c/scratchpad/deck/first_deck/ppt/media/image4.png">    </p:cNvPr>
          <p:cNvPicPr>
            <a:picLocks noChangeAspect="1"/>
          </p:cNvPicPr>
          <p:nvPr/>
        </p:nvPicPr>
        <p:blipFill>
          <a:blip r:embed="rId4"/>
          <a:stretch>
            <a:fillRect/>
          </a:stretch>
        </p:blipFill>
        <p:spPr>
          <a:xfrm>
            <a:off x="6607454" y="4092854"/>
            <a:ext cx="409651" cy="409651"/>
          </a:xfrm>
          <a:prstGeom prst="rect">
            <a:avLst/>
          </a:prstGeom>
        </p:spPr>
      </p:pic>
      <p:sp>
        <p:nvSpPr>
          <p:cNvPr id="22" name="Text 15"/>
          <p:cNvSpPr txBox="1"/>
          <p:nvPr/>
        </p:nvSpPr>
        <p:spPr>
          <a:xfrm>
            <a:off x="7360920" y="3977640"/>
            <a:ext cx="4023360" cy="411480"/>
          </a:xfrm>
          <a:prstGeom prst="rect">
            <a:avLst/>
          </a:prstGeom>
          <a:noFill/>
          <a:ln/>
        </p:spPr>
        <p:txBody>
          <a:bodyPr wrap="square" lIns="0" tIns="0" rIns="0" bIns="0" rtlCol="0" anchor="t"/>
          <a:lstStyle/>
          <a:p>
            <a:pPr indent="0" marL="0">
              <a:buNone/>
            </a:pPr>
            <a:r>
              <a:rPr lang="en-US" sz="1900" b="1" dirty="0">
                <a:solidFill>
                  <a:srgbClr val="2C5F2D"/>
                </a:solidFill>
                <a:latin typeface="Cambria" pitchFamily="34" charset="0"/>
                <a:ea typeface="Cambria" pitchFamily="34" charset="-122"/>
                <a:cs typeface="Cambria" pitchFamily="34" charset="-120"/>
              </a:rPr>
              <a:t>Sense-making</a:t>
            </a:r>
            <a:endParaRPr lang="en-US" sz="1900" dirty="0"/>
          </a:p>
        </p:txBody>
      </p:sp>
      <p:sp>
        <p:nvSpPr>
          <p:cNvPr id="23" name="Text 16"/>
          <p:cNvSpPr txBox="1"/>
          <p:nvPr/>
        </p:nvSpPr>
        <p:spPr>
          <a:xfrm>
            <a:off x="7360920" y="4434840"/>
            <a:ext cx="4069080" cy="1234440"/>
          </a:xfrm>
          <a:prstGeom prst="rect">
            <a:avLst/>
          </a:prstGeom>
          <a:noFill/>
          <a:ln/>
        </p:spPr>
        <p:txBody>
          <a:bodyPr wrap="square" lIns="0" tIns="0" rIns="0" bIns="0" rtlCol="0" anchor="t"/>
          <a:lstStyle/>
          <a:p>
            <a:pPr indent="0" marL="0">
              <a:buNone/>
            </a:pPr>
            <a:r>
              <a:rPr lang="en-US" sz="1400" dirty="0">
                <a:solidFill>
                  <a:srgbClr val="445645"/>
                </a:solidFill>
                <a:latin typeface="Calibri" pitchFamily="34" charset="0"/>
                <a:ea typeface="Calibri" pitchFamily="34" charset="-122"/>
                <a:cs typeface="Calibri" pitchFamily="34" charset="-120"/>
              </a:rPr>
              <a:t>TreeSHAP reasons on every flag; confidence-aware triage bands; risk patterns by taxon, product, route and year</a:t>
            </a:r>
            <a:endParaRPr lang="en-US" sz="1400" dirty="0"/>
          </a:p>
        </p:txBody>
      </p:sp>
      <p:sp>
        <p:nvSpPr>
          <p:cNvPr id="25" name="Slide Number Placeholder 0"/>
          <p:cNvSpPr>
            <a:spLocks noGrp="1"/>
          </p:cNvSpPr>
          <p:nvPr>
            <p:ph type="sldNum" sz="quarter" idx="4294967295"/>
          </p:nvPr>
        </p:nvSpPr>
        <p:spPr>
          <a:xfrm>
            <a:off x="1132301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6F"/>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0362895" cy="685800"/>
          </a:xfrm>
          <a:prstGeom prst="rect">
            <a:avLst/>
          </a:prstGeom>
          <a:noFill/>
          <a:ln/>
        </p:spPr>
        <p:txBody>
          <a:bodyPr wrap="square" lIns="0" tIns="0" rIns="0" bIns="0" rtlCol="0" anchor="ctr"/>
          <a:lstStyle/>
          <a:p>
            <a:pPr algn="l" indent="0" marL="0">
              <a:buNone/>
            </a:pPr>
            <a:r>
              <a:rPr lang="en-US" sz="3000" b="1" dirty="0">
                <a:solidFill>
                  <a:srgbClr val="2C5F2D"/>
                </a:solidFill>
                <a:latin typeface="Cambria" pitchFamily="34" charset="0"/>
                <a:ea typeface="Cambria" pitchFamily="34" charset="-122"/>
                <a:cs typeface="Cambria" pitchFamily="34" charset="-120"/>
              </a:rPr>
              <a:t>Does it work? Held-out LEMIS shipments, 2013-2014</a:t>
            </a:r>
            <a:endParaRPr lang="en-US" sz="3000" dirty="0"/>
          </a:p>
        </p:txBody>
      </p:sp>
      <p:sp>
        <p:nvSpPr>
          <p:cNvPr id="4" name="Shape 1"/>
          <p:cNvSpPr/>
          <p:nvPr/>
        </p:nvSpPr>
        <p:spPr>
          <a:xfrm>
            <a:off x="548640" y="1371600"/>
            <a:ext cx="2606040" cy="1965960"/>
          </a:xfrm>
          <a:prstGeom prst="roundRect">
            <a:avLst>
              <a:gd name="adj" fmla="val 3721"/>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5" name="Text 2"/>
          <p:cNvSpPr txBox="1"/>
          <p:nvPr/>
        </p:nvSpPr>
        <p:spPr>
          <a:xfrm>
            <a:off x="822960" y="1600200"/>
            <a:ext cx="2057400" cy="822960"/>
          </a:xfrm>
          <a:prstGeom prst="rect">
            <a:avLst/>
          </a:prstGeom>
          <a:noFill/>
          <a:ln/>
        </p:spPr>
        <p:txBody>
          <a:bodyPr wrap="square" lIns="0" tIns="0" rIns="0" bIns="0" rtlCol="0" anchor="t"/>
          <a:lstStyle/>
          <a:p>
            <a:pPr indent="0" marL="0">
              <a:buNone/>
            </a:pPr>
            <a:r>
              <a:rPr lang="en-US" sz="4400" b="1" dirty="0">
                <a:solidFill>
                  <a:srgbClr val="2C5F2D"/>
                </a:solidFill>
                <a:latin typeface="Cambria" pitchFamily="34" charset="0"/>
                <a:ea typeface="Cambria" pitchFamily="34" charset="-122"/>
                <a:cs typeface="Cambria" pitchFamily="34" charset="-120"/>
              </a:rPr>
              <a:t>70%</a:t>
            </a:r>
            <a:endParaRPr lang="en-US" sz="4400" dirty="0"/>
          </a:p>
        </p:txBody>
      </p:sp>
      <p:sp>
        <p:nvSpPr>
          <p:cNvPr id="6" name="Text 3"/>
          <p:cNvSpPr txBox="1"/>
          <p:nvPr/>
        </p:nvSpPr>
        <p:spPr>
          <a:xfrm>
            <a:off x="822960" y="2395728"/>
            <a:ext cx="2057400" cy="411480"/>
          </a:xfrm>
          <a:prstGeom prst="rect">
            <a:avLst/>
          </a:prstGeom>
          <a:noFill/>
          <a:ln/>
        </p:spPr>
        <p:txBody>
          <a:bodyPr wrap="square" lIns="0" tIns="0" rIns="0" bIns="0" rtlCol="0" anchor="t"/>
          <a:lstStyle/>
          <a:p>
            <a:pPr indent="0" marL="0">
              <a:buNone/>
            </a:pPr>
            <a:r>
              <a:rPr lang="en-US" sz="1400" b="1" dirty="0">
                <a:solidFill>
                  <a:srgbClr val="1A2E1B"/>
                </a:solidFill>
                <a:latin typeface="Calibri" pitchFamily="34" charset="0"/>
                <a:ea typeface="Calibri" pitchFamily="34" charset="-122"/>
                <a:cs typeface="Calibri" pitchFamily="34" charset="-120"/>
              </a:rPr>
              <a:t>of cases caught</a:t>
            </a:r>
            <a:endParaRPr lang="en-US" sz="1400" dirty="0"/>
          </a:p>
        </p:txBody>
      </p:sp>
      <p:sp>
        <p:nvSpPr>
          <p:cNvPr id="7" name="Text 4"/>
          <p:cNvSpPr txBox="1"/>
          <p:nvPr/>
        </p:nvSpPr>
        <p:spPr>
          <a:xfrm>
            <a:off x="822960" y="2852928"/>
            <a:ext cx="2057400" cy="365760"/>
          </a:xfrm>
          <a:prstGeom prst="rect">
            <a:avLst/>
          </a:prstGeom>
          <a:noFill/>
          <a:ln/>
        </p:spPr>
        <p:txBody>
          <a:bodyPr wrap="square" lIns="0" tIns="0" rIns="0" bIns="0" rtlCol="0" anchor="t"/>
          <a:lstStyle/>
          <a:p>
            <a:pPr indent="0" marL="0">
              <a:buNone/>
            </a:pPr>
            <a:r>
              <a:rPr lang="en-US" sz="1200" i="1" dirty="0">
                <a:solidFill>
                  <a:srgbClr val="6E7F6F"/>
                </a:solidFill>
                <a:latin typeface="Calibri" pitchFamily="34" charset="0"/>
                <a:ea typeface="Calibri" pitchFamily="34" charset="-122"/>
                <a:cs typeface="Calibri" pitchFamily="34" charset="-120"/>
              </a:rPr>
              <a:t>inspecting top 5% · random: 5%</a:t>
            </a:r>
            <a:endParaRPr lang="en-US" sz="1200" dirty="0"/>
          </a:p>
        </p:txBody>
      </p:sp>
      <p:sp>
        <p:nvSpPr>
          <p:cNvPr id="8" name="Shape 5"/>
          <p:cNvSpPr/>
          <p:nvPr/>
        </p:nvSpPr>
        <p:spPr>
          <a:xfrm>
            <a:off x="3319272" y="1371600"/>
            <a:ext cx="2606040" cy="1965960"/>
          </a:xfrm>
          <a:prstGeom prst="roundRect">
            <a:avLst>
              <a:gd name="adj" fmla="val 3721"/>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9" name="Text 6"/>
          <p:cNvSpPr txBox="1"/>
          <p:nvPr/>
        </p:nvSpPr>
        <p:spPr>
          <a:xfrm>
            <a:off x="3593592" y="1600200"/>
            <a:ext cx="2057400" cy="822960"/>
          </a:xfrm>
          <a:prstGeom prst="rect">
            <a:avLst/>
          </a:prstGeom>
          <a:noFill/>
          <a:ln/>
        </p:spPr>
        <p:txBody>
          <a:bodyPr wrap="square" lIns="0" tIns="0" rIns="0" bIns="0" rtlCol="0" anchor="t"/>
          <a:lstStyle/>
          <a:p>
            <a:pPr indent="0" marL="0">
              <a:buNone/>
            </a:pPr>
            <a:r>
              <a:rPr lang="en-US" sz="4400" b="1" dirty="0">
                <a:solidFill>
                  <a:srgbClr val="2C5F2D"/>
                </a:solidFill>
                <a:latin typeface="Cambria" pitchFamily="34" charset="0"/>
                <a:ea typeface="Cambria" pitchFamily="34" charset="-122"/>
                <a:cs typeface="Cambria" pitchFamily="34" charset="-120"/>
              </a:rPr>
              <a:t>79%</a:t>
            </a:r>
            <a:endParaRPr lang="en-US" sz="4400" dirty="0"/>
          </a:p>
        </p:txBody>
      </p:sp>
      <p:sp>
        <p:nvSpPr>
          <p:cNvPr id="10" name="Text 7"/>
          <p:cNvSpPr txBox="1"/>
          <p:nvPr/>
        </p:nvSpPr>
        <p:spPr>
          <a:xfrm>
            <a:off x="3593592" y="2395728"/>
            <a:ext cx="2057400" cy="411480"/>
          </a:xfrm>
          <a:prstGeom prst="rect">
            <a:avLst/>
          </a:prstGeom>
          <a:noFill/>
          <a:ln/>
        </p:spPr>
        <p:txBody>
          <a:bodyPr wrap="square" lIns="0" tIns="0" rIns="0" bIns="0" rtlCol="0" anchor="t"/>
          <a:lstStyle/>
          <a:p>
            <a:pPr indent="0" marL="0">
              <a:buNone/>
            </a:pPr>
            <a:r>
              <a:rPr lang="en-US" sz="1400" b="1" dirty="0">
                <a:solidFill>
                  <a:srgbClr val="1A2E1B"/>
                </a:solidFill>
                <a:latin typeface="Calibri" pitchFamily="34" charset="0"/>
                <a:ea typeface="Calibri" pitchFamily="34" charset="-122"/>
                <a:cs typeface="Calibri" pitchFamily="34" charset="-120"/>
              </a:rPr>
              <a:t>of top-1% flags real</a:t>
            </a:r>
            <a:endParaRPr lang="en-US" sz="1400" dirty="0"/>
          </a:p>
        </p:txBody>
      </p:sp>
      <p:sp>
        <p:nvSpPr>
          <p:cNvPr id="11" name="Text 8"/>
          <p:cNvSpPr txBox="1"/>
          <p:nvPr/>
        </p:nvSpPr>
        <p:spPr>
          <a:xfrm>
            <a:off x="3593592" y="2852928"/>
            <a:ext cx="2057400" cy="365760"/>
          </a:xfrm>
          <a:prstGeom prst="rect">
            <a:avLst/>
          </a:prstGeom>
          <a:noFill/>
          <a:ln/>
        </p:spPr>
        <p:txBody>
          <a:bodyPr wrap="square" lIns="0" tIns="0" rIns="0" bIns="0" rtlCol="0" anchor="t"/>
          <a:lstStyle/>
          <a:p>
            <a:pPr indent="0" marL="0">
              <a:buNone/>
            </a:pPr>
            <a:r>
              <a:rPr lang="en-US" sz="1200" i="1" dirty="0">
                <a:solidFill>
                  <a:srgbClr val="6E7F6F"/>
                </a:solidFill>
                <a:latin typeface="Calibri" pitchFamily="34" charset="0"/>
                <a:ea typeface="Calibri" pitchFamily="34" charset="-122"/>
                <a:cs typeface="Calibri" pitchFamily="34" charset="-120"/>
              </a:rPr>
              <a:t>base rate 1.6%</a:t>
            </a:r>
            <a:endParaRPr lang="en-US" sz="1200" dirty="0"/>
          </a:p>
        </p:txBody>
      </p:sp>
      <p:sp>
        <p:nvSpPr>
          <p:cNvPr id="12" name="Shape 9"/>
          <p:cNvSpPr/>
          <p:nvPr/>
        </p:nvSpPr>
        <p:spPr>
          <a:xfrm>
            <a:off x="6089904" y="1371600"/>
            <a:ext cx="2606040" cy="1965960"/>
          </a:xfrm>
          <a:prstGeom prst="roundRect">
            <a:avLst>
              <a:gd name="adj" fmla="val 3721"/>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3" name="Text 10"/>
          <p:cNvSpPr txBox="1"/>
          <p:nvPr/>
        </p:nvSpPr>
        <p:spPr>
          <a:xfrm>
            <a:off x="6364224" y="1600200"/>
            <a:ext cx="2057400" cy="822960"/>
          </a:xfrm>
          <a:prstGeom prst="rect">
            <a:avLst/>
          </a:prstGeom>
          <a:noFill/>
          <a:ln/>
        </p:spPr>
        <p:txBody>
          <a:bodyPr wrap="square" lIns="0" tIns="0" rIns="0" bIns="0" rtlCol="0" anchor="t"/>
          <a:lstStyle/>
          <a:p>
            <a:pPr indent="0" marL="0">
              <a:buNone/>
            </a:pPr>
            <a:r>
              <a:rPr lang="en-US" sz="4400" b="1" dirty="0">
                <a:solidFill>
                  <a:srgbClr val="2C5F2D"/>
                </a:solidFill>
                <a:latin typeface="Cambria" pitchFamily="34" charset="0"/>
                <a:ea typeface="Cambria" pitchFamily="34" charset="-122"/>
                <a:cs typeface="Cambria" pitchFamily="34" charset="-120"/>
              </a:rPr>
              <a:t>13%</a:t>
            </a:r>
            <a:endParaRPr lang="en-US" sz="4400" dirty="0"/>
          </a:p>
        </p:txBody>
      </p:sp>
      <p:sp>
        <p:nvSpPr>
          <p:cNvPr id="14" name="Text 11"/>
          <p:cNvSpPr txBox="1"/>
          <p:nvPr/>
        </p:nvSpPr>
        <p:spPr>
          <a:xfrm>
            <a:off x="6364224" y="2395728"/>
            <a:ext cx="2057400" cy="411480"/>
          </a:xfrm>
          <a:prstGeom prst="rect">
            <a:avLst/>
          </a:prstGeom>
          <a:noFill/>
          <a:ln/>
        </p:spPr>
        <p:txBody>
          <a:bodyPr wrap="square" lIns="0" tIns="0" rIns="0" bIns="0" rtlCol="0" anchor="t"/>
          <a:lstStyle/>
          <a:p>
            <a:pPr indent="0" marL="0">
              <a:buNone/>
            </a:pPr>
            <a:r>
              <a:rPr lang="en-US" sz="1400" b="1" dirty="0">
                <a:solidFill>
                  <a:srgbClr val="1A2E1B"/>
                </a:solidFill>
                <a:latin typeface="Calibri" pitchFamily="34" charset="0"/>
                <a:ea typeface="Calibri" pitchFamily="34" charset="-122"/>
                <a:cs typeface="Calibri" pitchFamily="34" charset="-120"/>
              </a:rPr>
              <a:t>inspected to catch 80%</a:t>
            </a:r>
            <a:endParaRPr lang="en-US" sz="1400" dirty="0"/>
          </a:p>
        </p:txBody>
      </p:sp>
      <p:sp>
        <p:nvSpPr>
          <p:cNvPr id="15" name="Text 12"/>
          <p:cNvSpPr txBox="1"/>
          <p:nvPr/>
        </p:nvSpPr>
        <p:spPr>
          <a:xfrm>
            <a:off x="6364224" y="2852928"/>
            <a:ext cx="2057400" cy="365760"/>
          </a:xfrm>
          <a:prstGeom prst="rect">
            <a:avLst/>
          </a:prstGeom>
          <a:noFill/>
          <a:ln/>
        </p:spPr>
        <p:txBody>
          <a:bodyPr wrap="square" lIns="0" tIns="0" rIns="0" bIns="0" rtlCol="0" anchor="t"/>
          <a:lstStyle/>
          <a:p>
            <a:pPr indent="0" marL="0">
              <a:buNone/>
            </a:pPr>
            <a:r>
              <a:rPr lang="en-US" sz="1200" i="1" dirty="0">
                <a:solidFill>
                  <a:srgbClr val="6E7F6F"/>
                </a:solidFill>
                <a:latin typeface="Calibri" pitchFamily="34" charset="0"/>
                <a:ea typeface="Calibri" pitchFamily="34" charset="-122"/>
                <a:cs typeface="Calibri" pitchFamily="34" charset="-120"/>
              </a:rPr>
              <a:t>random needs 80%</a:t>
            </a:r>
            <a:endParaRPr lang="en-US" sz="1200" dirty="0"/>
          </a:p>
        </p:txBody>
      </p:sp>
      <p:sp>
        <p:nvSpPr>
          <p:cNvPr id="16" name="Shape 13"/>
          <p:cNvSpPr/>
          <p:nvPr/>
        </p:nvSpPr>
        <p:spPr>
          <a:xfrm>
            <a:off x="8860536" y="1371600"/>
            <a:ext cx="2743200" cy="1965960"/>
          </a:xfrm>
          <a:prstGeom prst="roundRect">
            <a:avLst>
              <a:gd name="adj" fmla="val 3721"/>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7" name="Text 14"/>
          <p:cNvSpPr txBox="1"/>
          <p:nvPr/>
        </p:nvSpPr>
        <p:spPr>
          <a:xfrm>
            <a:off x="9134856" y="1600200"/>
            <a:ext cx="2194560" cy="822960"/>
          </a:xfrm>
          <a:prstGeom prst="rect">
            <a:avLst/>
          </a:prstGeom>
          <a:noFill/>
          <a:ln/>
        </p:spPr>
        <p:txBody>
          <a:bodyPr wrap="square" lIns="0" tIns="0" rIns="0" bIns="0" rtlCol="0" anchor="t"/>
          <a:lstStyle/>
          <a:p>
            <a:pPr indent="0" marL="0">
              <a:buNone/>
            </a:pPr>
            <a:r>
              <a:rPr lang="en-US" sz="4400" b="1" dirty="0">
                <a:solidFill>
                  <a:srgbClr val="2C5F2D"/>
                </a:solidFill>
                <a:latin typeface="Cambria" pitchFamily="34" charset="0"/>
                <a:ea typeface="Cambria" pitchFamily="34" charset="-122"/>
                <a:cs typeface="Cambria" pitchFamily="34" charset="-120"/>
              </a:rPr>
              <a:t>0.599</a:t>
            </a:r>
            <a:endParaRPr lang="en-US" sz="4400" dirty="0"/>
          </a:p>
        </p:txBody>
      </p:sp>
      <p:sp>
        <p:nvSpPr>
          <p:cNvPr id="18" name="Text 15"/>
          <p:cNvSpPr txBox="1"/>
          <p:nvPr/>
        </p:nvSpPr>
        <p:spPr>
          <a:xfrm>
            <a:off x="9134856" y="2395728"/>
            <a:ext cx="2194560" cy="411480"/>
          </a:xfrm>
          <a:prstGeom prst="rect">
            <a:avLst/>
          </a:prstGeom>
          <a:noFill/>
          <a:ln/>
        </p:spPr>
        <p:txBody>
          <a:bodyPr wrap="square" lIns="0" tIns="0" rIns="0" bIns="0" rtlCol="0" anchor="t"/>
          <a:lstStyle/>
          <a:p>
            <a:pPr indent="0" marL="0">
              <a:buNone/>
            </a:pPr>
            <a:r>
              <a:rPr lang="en-US" sz="1400" b="1" dirty="0">
                <a:solidFill>
                  <a:srgbClr val="1A2E1B"/>
                </a:solidFill>
                <a:latin typeface="Calibri" pitchFamily="34" charset="0"/>
                <a:ea typeface="Calibri" pitchFamily="34" charset="-122"/>
                <a:cs typeface="Calibri" pitchFamily="34" charset="-120"/>
              </a:rPr>
              <a:t>PR-AUC</a:t>
            </a:r>
            <a:endParaRPr lang="en-US" sz="1400" dirty="0"/>
          </a:p>
        </p:txBody>
      </p:sp>
      <p:sp>
        <p:nvSpPr>
          <p:cNvPr id="19" name="Text 16"/>
          <p:cNvSpPr txBox="1"/>
          <p:nvPr/>
        </p:nvSpPr>
        <p:spPr>
          <a:xfrm>
            <a:off x="9134856" y="2852928"/>
            <a:ext cx="2194560" cy="365760"/>
          </a:xfrm>
          <a:prstGeom prst="rect">
            <a:avLst/>
          </a:prstGeom>
          <a:noFill/>
          <a:ln/>
        </p:spPr>
        <p:txBody>
          <a:bodyPr wrap="square" lIns="0" tIns="0" rIns="0" bIns="0" rtlCol="0" anchor="t"/>
          <a:lstStyle/>
          <a:p>
            <a:pPr indent="0" marL="0">
              <a:buNone/>
            </a:pPr>
            <a:r>
              <a:rPr lang="en-US" sz="1200" i="1" dirty="0">
                <a:solidFill>
                  <a:srgbClr val="6E7F6F"/>
                </a:solidFill>
                <a:latin typeface="Calibri" pitchFamily="34" charset="0"/>
                <a:ea typeface="Calibri" pitchFamily="34" charset="-122"/>
                <a:cs typeface="Calibri" pitchFamily="34" charset="-120"/>
              </a:rPr>
              <a:t>random 0.016 · ROC-AUC 0.913</a:t>
            </a:r>
            <a:endParaRPr lang="en-US" sz="1200" dirty="0"/>
          </a:p>
        </p:txBody>
      </p:sp>
      <p:sp>
        <p:nvSpPr>
          <p:cNvPr id="20" name="Shape 17"/>
          <p:cNvSpPr/>
          <p:nvPr/>
        </p:nvSpPr>
        <p:spPr>
          <a:xfrm>
            <a:off x="548640" y="3657600"/>
            <a:ext cx="11064240" cy="2331720"/>
          </a:xfrm>
          <a:prstGeom prst="roundRect">
            <a:avLst>
              <a:gd name="adj" fmla="val 3137"/>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21" name="Text 18"/>
          <p:cNvSpPr txBox="1"/>
          <p:nvPr/>
        </p:nvSpPr>
        <p:spPr>
          <a:xfrm>
            <a:off x="822960" y="3794760"/>
            <a:ext cx="10515600" cy="365760"/>
          </a:xfrm>
          <a:prstGeom prst="rect">
            <a:avLst/>
          </a:prstGeom>
          <a:noFill/>
          <a:ln/>
        </p:spPr>
        <p:txBody>
          <a:bodyPr wrap="square" lIns="0" tIns="0" rIns="0" bIns="0" rtlCol="0" anchor="t"/>
          <a:lstStyle/>
          <a:p>
            <a:pPr indent="0" marL="0">
              <a:buNone/>
            </a:pPr>
            <a:r>
              <a:rPr lang="en-US" sz="1700" b="1" dirty="0">
                <a:solidFill>
                  <a:srgbClr val="2C5F2D"/>
                </a:solidFill>
                <a:latin typeface="Cambria" pitchFamily="34" charset="0"/>
                <a:ea typeface="Cambria" pitchFamily="34" charset="-122"/>
                <a:cs typeface="Cambria" pitchFamily="34" charset="-120"/>
              </a:rPr>
              <a:t>How it was tested</a:t>
            </a:r>
            <a:endParaRPr lang="en-US" sz="1700" dirty="0"/>
          </a:p>
        </p:txBody>
      </p:sp>
      <p:sp>
        <p:nvSpPr>
          <p:cNvPr id="22" name="Text 19"/>
          <p:cNvSpPr txBox="1"/>
          <p:nvPr/>
        </p:nvSpPr>
        <p:spPr>
          <a:xfrm>
            <a:off x="822960" y="4251960"/>
            <a:ext cx="10515600" cy="16459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445645"/>
                </a:solidFill>
                <a:latin typeface="Calibri" pitchFamily="34" charset="0"/>
                <a:ea typeface="Calibri" pitchFamily="34" charset="-122"/>
                <a:cs typeface="Calibri" pitchFamily="34" charset="-120"/>
              </a:rPr>
              <a:t>Temporal split - train 2000-2010 (3.88M), tune 2011-2012 (813k), test 2013-2014 (822k line items)</a:t>
            </a:r>
            <a:endParaRPr lang="en-US" sz="1400" dirty="0"/>
          </a:p>
          <a:p>
            <a:pPr marL="342900" indent="-342900">
              <a:spcAft>
                <a:spcPts val="800"/>
              </a:spcAft>
              <a:buSzPct val="100000"/>
              <a:buChar char="•"/>
            </a:pPr>
            <a:r>
              <a:rPr lang="en-US" sz="1400" dirty="0">
                <a:solidFill>
                  <a:srgbClr val="445645"/>
                </a:solidFill>
                <a:latin typeface="Calibri" pitchFamily="34" charset="0"/>
                <a:ea typeface="Calibri" pitchFamily="34" charset="-122"/>
                <a:cs typeface="Calibri" pitchFamily="34" charset="-120"/>
              </a:rPr>
              <a:t>Enforcement case = refused, or seized / abandoned / re-exported - 1.6% of test line items, so ranking metrics (PR-AUC, recall at a budget) replace accuracy</a:t>
            </a:r>
            <a:endParaRPr lang="en-US" sz="1400" dirty="0"/>
          </a:p>
          <a:p>
            <a:pPr marL="342900" indent="-342900">
              <a:spcAft>
                <a:spcPts val="800"/>
              </a:spcAft>
              <a:buSzPct val="100000"/>
              <a:buChar char="•"/>
            </a:pPr>
            <a:r>
              <a:rPr lang="en-US" sz="1400" dirty="0">
                <a:solidFill>
                  <a:srgbClr val="445645"/>
                </a:solidFill>
                <a:latin typeface="Calibri" pitchFamily="34" charset="0"/>
                <a:ea typeface="Calibri" pitchFamily="34" charset="-122"/>
                <a:cs typeface="Calibri" pitchFamily="34" charset="-120"/>
              </a:rPr>
              <a:t>Deployed transfer model uses only fields CITES also has - no declared value, no US port</a:t>
            </a:r>
            <a:endParaRPr lang="en-US" sz="1400" dirty="0"/>
          </a:p>
        </p:txBody>
      </p:sp>
      <p:sp>
        <p:nvSpPr>
          <p:cNvPr id="25" name="Slide Number Placeholder 0"/>
          <p:cNvSpPr>
            <a:spLocks noGrp="1"/>
          </p:cNvSpPr>
          <p:nvPr>
            <p:ph type="sldNum" sz="quarter" idx="4294967295"/>
          </p:nvPr>
        </p:nvSpPr>
        <p:spPr>
          <a:xfrm>
            <a:off x="1132301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6F"/>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0362895" cy="685800"/>
          </a:xfrm>
          <a:prstGeom prst="rect">
            <a:avLst/>
          </a:prstGeom>
          <a:noFill/>
          <a:ln/>
        </p:spPr>
        <p:txBody>
          <a:bodyPr wrap="square" lIns="0" tIns="0" rIns="0" bIns="0" rtlCol="0" anchor="ctr"/>
          <a:lstStyle/>
          <a:p>
            <a:pPr algn="l" indent="0" marL="0">
              <a:buNone/>
            </a:pPr>
            <a:r>
              <a:rPr lang="en-US" sz="3000" b="1" dirty="0">
                <a:solidFill>
                  <a:srgbClr val="2C5F2D"/>
                </a:solidFill>
                <a:latin typeface="Cambria" pitchFamily="34" charset="0"/>
                <a:ea typeface="Cambria" pitchFamily="34" charset="-122"/>
                <a:cs typeface="Cambria" pitchFamily="34" charset="-120"/>
              </a:rPr>
              <a:t>What an inspection budget buys</a:t>
            </a:r>
            <a:endParaRPr lang="en-US" sz="3000" dirty="0"/>
          </a:p>
        </p:txBody>
      </p:sp>
      <p:pic>
        <p:nvPicPr>
          <p:cNvPr id="4" name="Image 0" descr="/Users/adhithi.m/Desktop/Masters Class Notes &amp; Review/1st Year/Pattern Recognition Systems/PRS Practice Module/PRS-PM-Group-37-WildGuard/SYSTEM CODE/outputs/figures/capture_curve.png">    </p:cNvPr>
          <p:cNvPicPr>
            <a:picLocks noChangeAspect="1"/>
          </p:cNvPicPr>
          <p:nvPr/>
        </p:nvPicPr>
        <p:blipFill>
          <a:blip r:embed="rId1"/>
          <a:stretch>
            <a:fillRect/>
          </a:stretch>
        </p:blipFill>
        <p:spPr>
          <a:xfrm>
            <a:off x="507076" y="1234440"/>
            <a:ext cx="7215447" cy="4535424"/>
          </a:xfrm>
          <a:prstGeom prst="rect">
            <a:avLst/>
          </a:prstGeom>
        </p:spPr>
      </p:pic>
      <p:sp>
        <p:nvSpPr>
          <p:cNvPr id="5" name="Shape 1"/>
          <p:cNvSpPr/>
          <p:nvPr/>
        </p:nvSpPr>
        <p:spPr>
          <a:xfrm>
            <a:off x="8001000" y="1280160"/>
            <a:ext cx="3611880" cy="4480560"/>
          </a:xfrm>
          <a:prstGeom prst="roundRect">
            <a:avLst>
              <a:gd name="adj" fmla="val 2025"/>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6" name="Text 2"/>
          <p:cNvSpPr txBox="1"/>
          <p:nvPr/>
        </p:nvSpPr>
        <p:spPr>
          <a:xfrm>
            <a:off x="8229600" y="1417320"/>
            <a:ext cx="3200400" cy="411480"/>
          </a:xfrm>
          <a:prstGeom prst="rect">
            <a:avLst/>
          </a:prstGeom>
          <a:noFill/>
          <a:ln/>
        </p:spPr>
        <p:txBody>
          <a:bodyPr wrap="square" lIns="0" tIns="0" rIns="0" bIns="0" rtlCol="0" anchor="t"/>
          <a:lstStyle/>
          <a:p>
            <a:pPr indent="0" marL="0">
              <a:buNone/>
            </a:pPr>
            <a:r>
              <a:rPr lang="en-US" sz="1700" b="1" dirty="0">
                <a:solidFill>
                  <a:srgbClr val="2C5F2D"/>
                </a:solidFill>
                <a:latin typeface="Cambria" pitchFamily="34" charset="0"/>
                <a:ea typeface="Cambria" pitchFamily="34" charset="-122"/>
                <a:cs typeface="Cambria" pitchFamily="34" charset="-120"/>
              </a:rPr>
              <a:t>Confidence-aware bands</a:t>
            </a:r>
            <a:endParaRPr lang="en-US" sz="1700" dirty="0"/>
          </a:p>
        </p:txBody>
      </p:sp>
      <p:sp>
        <p:nvSpPr>
          <p:cNvPr id="7" name="Shape 3"/>
          <p:cNvSpPr/>
          <p:nvPr/>
        </p:nvSpPr>
        <p:spPr>
          <a:xfrm>
            <a:off x="8229600" y="2039112"/>
            <a:ext cx="256032" cy="256032"/>
          </a:xfrm>
          <a:prstGeom prst="ellipse">
            <a:avLst/>
          </a:prstGeom>
          <a:solidFill>
            <a:srgbClr val="0CA30C"/>
          </a:solidFill>
          <a:ln w="12700">
            <a:solidFill>
              <a:srgbClr val="0CA30C"/>
            </a:solidFill>
            <a:prstDash val="solid"/>
          </a:ln>
        </p:spPr>
      </p:sp>
      <p:sp>
        <p:nvSpPr>
          <p:cNvPr id="8" name="Text 4"/>
          <p:cNvSpPr txBox="1"/>
          <p:nvPr/>
        </p:nvSpPr>
        <p:spPr>
          <a:xfrm>
            <a:off x="8641080" y="1965960"/>
            <a:ext cx="2743200" cy="365760"/>
          </a:xfrm>
          <a:prstGeom prst="rect">
            <a:avLst/>
          </a:prstGeom>
          <a:noFill/>
          <a:ln/>
        </p:spPr>
        <p:txBody>
          <a:bodyPr wrap="square" lIns="0" tIns="0" rIns="0" bIns="0" rtlCol="0" anchor="t"/>
          <a:lstStyle/>
          <a:p>
            <a:pPr indent="0" marL="0">
              <a:buNone/>
            </a:pPr>
            <a:r>
              <a:rPr lang="en-US" sz="1500" b="1" dirty="0">
                <a:solidFill>
                  <a:srgbClr val="1A2E1B"/>
                </a:solidFill>
                <a:latin typeface="Calibri" pitchFamily="34" charset="0"/>
                <a:ea typeface="Calibri" pitchFamily="34" charset="-122"/>
                <a:cs typeface="Calibri" pitchFamily="34" charset="-120"/>
              </a:rPr>
              <a:t>Auto-clear</a:t>
            </a:r>
            <a:endParaRPr lang="en-US" sz="1500" dirty="0"/>
          </a:p>
        </p:txBody>
      </p:sp>
      <p:sp>
        <p:nvSpPr>
          <p:cNvPr id="9" name="Text 5"/>
          <p:cNvSpPr txBox="1"/>
          <p:nvPr/>
        </p:nvSpPr>
        <p:spPr>
          <a:xfrm>
            <a:off x="8641080" y="2331720"/>
            <a:ext cx="2834640" cy="685800"/>
          </a:xfrm>
          <a:prstGeom prst="rect">
            <a:avLst/>
          </a:prstGeom>
          <a:noFill/>
          <a:ln/>
        </p:spPr>
        <p:txBody>
          <a:bodyPr wrap="square" lIns="0" tIns="0" rIns="0" bIns="0" rtlCol="0" anchor="t"/>
          <a:lstStyle/>
          <a:p>
            <a:pPr indent="0" marL="0">
              <a:buNone/>
            </a:pPr>
            <a:r>
              <a:rPr lang="en-US" sz="1300" dirty="0">
                <a:solidFill>
                  <a:srgbClr val="445645"/>
                </a:solidFill>
                <a:latin typeface="Calibri" pitchFamily="34" charset="0"/>
                <a:ea typeface="Calibri" pitchFamily="34" charset="-122"/>
                <a:cs typeface="Calibri" pitchFamily="34" charset="-120"/>
              </a:rPr>
              <a:t>55.5% of shipments</a:t>
            </a:r>
            <a:endParaRPr lang="en-US" sz="1300" dirty="0"/>
          </a:p>
          <a:p>
            <a:pPr indent="0" marL="0">
              <a:buNone/>
            </a:pPr>
            <a:r>
              <a:rPr lang="en-US" sz="1300" dirty="0">
                <a:solidFill>
                  <a:srgbClr val="445645"/>
                </a:solidFill>
                <a:latin typeface="Calibri" pitchFamily="34" charset="0"/>
                <a:ea typeface="Calibri" pitchFamily="34" charset="-122"/>
                <a:cs typeface="Calibri" pitchFamily="34" charset="-120"/>
              </a:rPr>
              <a:t>6.9% of enforcement cases</a:t>
            </a:r>
            <a:endParaRPr lang="en-US" sz="1300" dirty="0"/>
          </a:p>
        </p:txBody>
      </p:sp>
      <p:sp>
        <p:nvSpPr>
          <p:cNvPr id="10" name="Shape 6"/>
          <p:cNvSpPr/>
          <p:nvPr/>
        </p:nvSpPr>
        <p:spPr>
          <a:xfrm>
            <a:off x="8229600" y="3273552"/>
            <a:ext cx="256032" cy="256032"/>
          </a:xfrm>
          <a:prstGeom prst="ellipse">
            <a:avLst/>
          </a:prstGeom>
          <a:solidFill>
            <a:srgbClr val="FAB219"/>
          </a:solidFill>
          <a:ln w="12700">
            <a:solidFill>
              <a:srgbClr val="FAB219"/>
            </a:solidFill>
            <a:prstDash val="solid"/>
          </a:ln>
        </p:spPr>
      </p:sp>
      <p:sp>
        <p:nvSpPr>
          <p:cNvPr id="11" name="Text 7"/>
          <p:cNvSpPr txBox="1"/>
          <p:nvPr/>
        </p:nvSpPr>
        <p:spPr>
          <a:xfrm>
            <a:off x="8641080" y="3200400"/>
            <a:ext cx="2743200" cy="365760"/>
          </a:xfrm>
          <a:prstGeom prst="rect">
            <a:avLst/>
          </a:prstGeom>
          <a:noFill/>
          <a:ln/>
        </p:spPr>
        <p:txBody>
          <a:bodyPr wrap="square" lIns="0" tIns="0" rIns="0" bIns="0" rtlCol="0" anchor="t"/>
          <a:lstStyle/>
          <a:p>
            <a:pPr indent="0" marL="0">
              <a:buNone/>
            </a:pPr>
            <a:r>
              <a:rPr lang="en-US" sz="1500" b="1" dirty="0">
                <a:solidFill>
                  <a:srgbClr val="1A2E1B"/>
                </a:solidFill>
                <a:latin typeface="Calibri" pitchFamily="34" charset="0"/>
                <a:ea typeface="Calibri" pitchFamily="34" charset="-122"/>
                <a:cs typeface="Calibri" pitchFamily="34" charset="-120"/>
              </a:rPr>
              <a:t>Review</a:t>
            </a:r>
            <a:endParaRPr lang="en-US" sz="1500" dirty="0"/>
          </a:p>
        </p:txBody>
      </p:sp>
      <p:sp>
        <p:nvSpPr>
          <p:cNvPr id="12" name="Text 8"/>
          <p:cNvSpPr txBox="1"/>
          <p:nvPr/>
        </p:nvSpPr>
        <p:spPr>
          <a:xfrm>
            <a:off x="8641080" y="3566160"/>
            <a:ext cx="2834640" cy="685800"/>
          </a:xfrm>
          <a:prstGeom prst="rect">
            <a:avLst/>
          </a:prstGeom>
          <a:noFill/>
          <a:ln/>
        </p:spPr>
        <p:txBody>
          <a:bodyPr wrap="square" lIns="0" tIns="0" rIns="0" bIns="0" rtlCol="0" anchor="t"/>
          <a:lstStyle/>
          <a:p>
            <a:pPr indent="0" marL="0">
              <a:buNone/>
            </a:pPr>
            <a:r>
              <a:rPr lang="en-US" sz="1300" dirty="0">
                <a:solidFill>
                  <a:srgbClr val="445645"/>
                </a:solidFill>
                <a:latin typeface="Calibri" pitchFamily="34" charset="0"/>
                <a:ea typeface="Calibri" pitchFamily="34" charset="-122"/>
                <a:cs typeface="Calibri" pitchFamily="34" charset="-120"/>
              </a:rPr>
              <a:t>42.5% of shipments</a:t>
            </a:r>
            <a:endParaRPr lang="en-US" sz="1300" dirty="0"/>
          </a:p>
          <a:p>
            <a:pPr indent="0" marL="0">
              <a:buNone/>
            </a:pPr>
            <a:r>
              <a:rPr lang="en-US" sz="1300" dirty="0">
                <a:solidFill>
                  <a:srgbClr val="445645"/>
                </a:solidFill>
                <a:latin typeface="Calibri" pitchFamily="34" charset="0"/>
                <a:ea typeface="Calibri" pitchFamily="34" charset="-122"/>
                <a:cs typeface="Calibri" pitchFamily="34" charset="-120"/>
              </a:rPr>
              <a:t>33.5% of enforcement cases</a:t>
            </a:r>
            <a:endParaRPr lang="en-US" sz="1300" dirty="0"/>
          </a:p>
        </p:txBody>
      </p:sp>
      <p:sp>
        <p:nvSpPr>
          <p:cNvPr id="13" name="Shape 9"/>
          <p:cNvSpPr/>
          <p:nvPr/>
        </p:nvSpPr>
        <p:spPr>
          <a:xfrm>
            <a:off x="8229600" y="4507992"/>
            <a:ext cx="256032" cy="256032"/>
          </a:xfrm>
          <a:prstGeom prst="ellipse">
            <a:avLst/>
          </a:prstGeom>
          <a:solidFill>
            <a:srgbClr val="D03B3B"/>
          </a:solidFill>
          <a:ln w="12700">
            <a:solidFill>
              <a:srgbClr val="D03B3B"/>
            </a:solidFill>
            <a:prstDash val="solid"/>
          </a:ln>
        </p:spPr>
      </p:sp>
      <p:sp>
        <p:nvSpPr>
          <p:cNvPr id="14" name="Text 10"/>
          <p:cNvSpPr txBox="1"/>
          <p:nvPr/>
        </p:nvSpPr>
        <p:spPr>
          <a:xfrm>
            <a:off x="8641080" y="4434840"/>
            <a:ext cx="2743200" cy="365760"/>
          </a:xfrm>
          <a:prstGeom prst="rect">
            <a:avLst/>
          </a:prstGeom>
          <a:noFill/>
          <a:ln/>
        </p:spPr>
        <p:txBody>
          <a:bodyPr wrap="square" lIns="0" tIns="0" rIns="0" bIns="0" rtlCol="0" anchor="t"/>
          <a:lstStyle/>
          <a:p>
            <a:pPr indent="0" marL="0">
              <a:buNone/>
            </a:pPr>
            <a:r>
              <a:rPr lang="en-US" sz="1500" b="1" dirty="0">
                <a:solidFill>
                  <a:srgbClr val="1A2E1B"/>
                </a:solidFill>
                <a:latin typeface="Calibri" pitchFamily="34" charset="0"/>
                <a:ea typeface="Calibri" pitchFamily="34" charset="-122"/>
                <a:cs typeface="Calibri" pitchFamily="34" charset="-120"/>
              </a:rPr>
              <a:t>Priority</a:t>
            </a:r>
            <a:endParaRPr lang="en-US" sz="1500" dirty="0"/>
          </a:p>
        </p:txBody>
      </p:sp>
      <p:sp>
        <p:nvSpPr>
          <p:cNvPr id="15" name="Text 11"/>
          <p:cNvSpPr txBox="1"/>
          <p:nvPr/>
        </p:nvSpPr>
        <p:spPr>
          <a:xfrm>
            <a:off x="8641080" y="4800600"/>
            <a:ext cx="2834640" cy="685800"/>
          </a:xfrm>
          <a:prstGeom prst="rect">
            <a:avLst/>
          </a:prstGeom>
          <a:noFill/>
          <a:ln/>
        </p:spPr>
        <p:txBody>
          <a:bodyPr wrap="square" lIns="0" tIns="0" rIns="0" bIns="0" rtlCol="0" anchor="t"/>
          <a:lstStyle/>
          <a:p>
            <a:pPr indent="0" marL="0">
              <a:buNone/>
            </a:pPr>
            <a:r>
              <a:rPr lang="en-US" sz="1300" dirty="0">
                <a:solidFill>
                  <a:srgbClr val="445645"/>
                </a:solidFill>
                <a:latin typeface="Calibri" pitchFamily="34" charset="0"/>
                <a:ea typeface="Calibri" pitchFamily="34" charset="-122"/>
                <a:cs typeface="Calibri" pitchFamily="34" charset="-120"/>
              </a:rPr>
              <a:t>2.0% of shipments</a:t>
            </a:r>
            <a:endParaRPr lang="en-US" sz="1300" dirty="0"/>
          </a:p>
          <a:p>
            <a:pPr indent="0" marL="0">
              <a:buNone/>
            </a:pPr>
            <a:r>
              <a:rPr lang="en-US" sz="1300" dirty="0">
                <a:solidFill>
                  <a:srgbClr val="445645"/>
                </a:solidFill>
                <a:latin typeface="Calibri" pitchFamily="34" charset="0"/>
                <a:ea typeface="Calibri" pitchFamily="34" charset="-122"/>
                <a:cs typeface="Calibri" pitchFamily="34" charset="-120"/>
              </a:rPr>
              <a:t>59.6% of enforcement cases</a:t>
            </a:r>
            <a:endParaRPr lang="en-US" sz="1300" dirty="0"/>
          </a:p>
        </p:txBody>
      </p:sp>
      <p:sp>
        <p:nvSpPr>
          <p:cNvPr id="16" name="Text 12"/>
          <p:cNvSpPr txBox="1"/>
          <p:nvPr/>
        </p:nvSpPr>
        <p:spPr>
          <a:xfrm>
            <a:off x="8229600" y="5257800"/>
            <a:ext cx="3200400" cy="365760"/>
          </a:xfrm>
          <a:prstGeom prst="rect">
            <a:avLst/>
          </a:prstGeom>
          <a:noFill/>
          <a:ln/>
        </p:spPr>
        <p:txBody>
          <a:bodyPr wrap="square" lIns="0" tIns="0" rIns="0" bIns="0" rtlCol="0" anchor="t"/>
          <a:lstStyle/>
          <a:p>
            <a:pPr indent="0" marL="0">
              <a:buNone/>
            </a:pPr>
            <a:r>
              <a:rPr lang="en-US" sz="1100" i="1" dirty="0">
                <a:solidFill>
                  <a:srgbClr val="6E7F6F"/>
                </a:solidFill>
                <a:latin typeface="Calibri" pitchFamily="34" charset="0"/>
                <a:ea typeface="Calibri" pitchFamily="34" charset="-122"/>
                <a:cs typeface="Calibri" pitchFamily="34" charset="-120"/>
              </a:rPr>
              <a:t>Thresholds fixed on 2011-2012, applied to 2013-2014</a:t>
            </a:r>
            <a:endParaRPr lang="en-US" sz="1100" dirty="0"/>
          </a:p>
        </p:txBody>
      </p:sp>
      <p:sp>
        <p:nvSpPr>
          <p:cNvPr id="25" name="Slide Number Placeholder 0"/>
          <p:cNvSpPr>
            <a:spLocks noGrp="1"/>
          </p:cNvSpPr>
          <p:nvPr>
            <p:ph type="sldNum" sz="quarter" idx="4294967295"/>
          </p:nvPr>
        </p:nvSpPr>
        <p:spPr>
          <a:xfrm>
            <a:off x="1132301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6F"/>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0362895" cy="685800"/>
          </a:xfrm>
          <a:prstGeom prst="rect">
            <a:avLst/>
          </a:prstGeom>
          <a:noFill/>
          <a:ln/>
        </p:spPr>
        <p:txBody>
          <a:bodyPr wrap="square" lIns="0" tIns="0" rIns="0" bIns="0" rtlCol="0" anchor="ctr"/>
          <a:lstStyle/>
          <a:p>
            <a:pPr algn="l" indent="0" marL="0">
              <a:buNone/>
            </a:pPr>
            <a:r>
              <a:rPr lang="en-US" sz="3000" b="1" dirty="0">
                <a:solidFill>
                  <a:srgbClr val="2C5F2D"/>
                </a:solidFill>
                <a:latin typeface="Cambria" pitchFamily="34" charset="0"/>
                <a:ea typeface="Cambria" pitchFamily="34" charset="-122"/>
                <a:cs typeface="Cambria" pitchFamily="34" charset="-120"/>
              </a:rPr>
              <a:t>Hybrid beats either part alone - but unusual is not illegal</a:t>
            </a:r>
            <a:endParaRPr lang="en-US" sz="3000" dirty="0"/>
          </a:p>
        </p:txBody>
      </p:sp>
      <p:graphicFrame>
        <p:nvGraphicFramePr>
          <p:cNvPr id="4" name="Chart 0" descr=""/>
          <p:cNvGraphicFramePr/>
          <p:nvPr/>
        </p:nvGraphicFramePr>
        <p:xfrm>
          <a:off x="548640" y="1280160"/>
          <a:ext cx="6949440" cy="457200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548640" y="5897880"/>
            <a:ext cx="6400800" cy="274320"/>
          </a:xfrm>
          <a:prstGeom prst="rect">
            <a:avLst/>
          </a:prstGeom>
          <a:noFill/>
          <a:ln/>
        </p:spPr>
        <p:txBody>
          <a:bodyPr wrap="square" lIns="0" tIns="0" rIns="0" bIns="0" rtlCol="0" anchor="t"/>
          <a:lstStyle/>
          <a:p>
            <a:pPr indent="0" marL="0">
              <a:buNone/>
            </a:pPr>
            <a:r>
              <a:rPr lang="en-US" sz="1100" i="1" dirty="0">
                <a:solidFill>
                  <a:srgbClr val="6E7F6F"/>
                </a:solidFill>
                <a:latin typeface="Calibri" pitchFamily="34" charset="0"/>
                <a:ea typeface="Calibri" pitchFamily="34" charset="-122"/>
                <a:cs typeface="Calibri" pitchFamily="34" charset="-120"/>
              </a:rPr>
              <a:t>* uses LEMIS-only declared value and port</a:t>
            </a:r>
            <a:endParaRPr lang="en-US" sz="1100" dirty="0"/>
          </a:p>
        </p:txBody>
      </p:sp>
      <p:sp>
        <p:nvSpPr>
          <p:cNvPr id="6" name="Shape 2"/>
          <p:cNvSpPr/>
          <p:nvPr/>
        </p:nvSpPr>
        <p:spPr>
          <a:xfrm>
            <a:off x="7863840" y="1325880"/>
            <a:ext cx="3749040" cy="4526280"/>
          </a:xfrm>
          <a:prstGeom prst="roundRect">
            <a:avLst>
              <a:gd name="adj" fmla="val 1951"/>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7" name="Text 3"/>
          <p:cNvSpPr txBox="1"/>
          <p:nvPr/>
        </p:nvSpPr>
        <p:spPr>
          <a:xfrm>
            <a:off x="8138160" y="1463040"/>
            <a:ext cx="3291840" cy="411480"/>
          </a:xfrm>
          <a:prstGeom prst="rect">
            <a:avLst/>
          </a:prstGeom>
          <a:noFill/>
          <a:ln/>
        </p:spPr>
        <p:txBody>
          <a:bodyPr wrap="square" lIns="0" tIns="0" rIns="0" bIns="0" rtlCol="0" anchor="t"/>
          <a:lstStyle/>
          <a:p>
            <a:pPr indent="0" marL="0">
              <a:buNone/>
            </a:pPr>
            <a:r>
              <a:rPr lang="en-US" sz="1700" b="1" dirty="0">
                <a:solidFill>
                  <a:srgbClr val="2C5F2D"/>
                </a:solidFill>
                <a:latin typeface="Cambria" pitchFamily="34" charset="0"/>
                <a:ea typeface="Cambria" pitchFamily="34" charset="-122"/>
                <a:cs typeface="Cambria" pitchFamily="34" charset="-120"/>
              </a:rPr>
              <a:t>What the combiner learned</a:t>
            </a:r>
            <a:endParaRPr lang="en-US" sz="1700" dirty="0"/>
          </a:p>
        </p:txBody>
      </p:sp>
      <p:sp>
        <p:nvSpPr>
          <p:cNvPr id="8" name="Text 4"/>
          <p:cNvSpPr txBox="1"/>
          <p:nvPr/>
        </p:nvSpPr>
        <p:spPr>
          <a:xfrm>
            <a:off x="8138160" y="2011680"/>
            <a:ext cx="3291840" cy="3657600"/>
          </a:xfrm>
          <a:prstGeom prst="rect">
            <a:avLst/>
          </a:prstGeom>
          <a:noFill/>
          <a:ln/>
        </p:spPr>
        <p:txBody>
          <a:bodyPr wrap="square" lIns="0" tIns="0" rIns="0" bIns="0" rtlCol="0" anchor="t"/>
          <a:lstStyle/>
          <a:p>
            <a:pPr marL="342900" indent="-342900">
              <a:spcAft>
                <a:spcPts val="1000"/>
              </a:spcAft>
              <a:buSzPct val="100000"/>
              <a:buChar char="•"/>
            </a:pPr>
            <a:r>
              <a:rPr lang="en-US" sz="1350" dirty="0">
                <a:solidFill>
                  <a:srgbClr val="445645"/>
                </a:solidFill>
                <a:latin typeface="Calibri" pitchFamily="34" charset="0"/>
                <a:ea typeface="Calibri" pitchFamily="34" charset="-122"/>
                <a:cs typeface="Calibri" pitchFamily="34" charset="-120"/>
              </a:rPr>
              <a:t>Weights (standardised inputs): supervised logit 0.85, Isolation Forest 1.18, peer deviation 0.36, K-Means 0.01</a:t>
            </a:r>
            <a:endParaRPr lang="en-US" sz="1350" dirty="0"/>
          </a:p>
          <a:p>
            <a:pPr marL="342900" indent="-342900">
              <a:spcAft>
                <a:spcPts val="1000"/>
              </a:spcAft>
              <a:buSzPct val="100000"/>
              <a:buChar char="•"/>
            </a:pPr>
            <a:r>
              <a:rPr lang="en-US" sz="1350" dirty="0">
                <a:solidFill>
                  <a:srgbClr val="445645"/>
                </a:solidFill>
                <a:latin typeface="Calibri" pitchFamily="34" charset="0"/>
                <a:ea typeface="Calibri" pitchFamily="34" charset="-122"/>
                <a:cs typeface="Calibri" pitchFamily="34" charset="-120"/>
              </a:rPr>
              <a:t>Unsupervised alone: 3.1x random - legal trade is often unusual too</a:t>
            </a:r>
            <a:endParaRPr lang="en-US" sz="1350" dirty="0"/>
          </a:p>
          <a:p>
            <a:pPr marL="342900" indent="-342900">
              <a:spcAft>
                <a:spcPts val="1000"/>
              </a:spcAft>
              <a:buSzPct val="100000"/>
              <a:buChar char="•"/>
            </a:pPr>
            <a:r>
              <a:rPr lang="en-US" sz="1350" dirty="0">
                <a:solidFill>
                  <a:srgbClr val="445645"/>
                </a:solidFill>
                <a:latin typeface="Calibri" pitchFamily="34" charset="0"/>
                <a:ea typeface="Calibri" pitchFamily="34" charset="-122"/>
                <a:cs typeface="Calibri" pitchFamily="34" charset="-120"/>
              </a:rPr>
              <a:t>Most endangered-first rule: 1.5x random - listing status alone is not the signal</a:t>
            </a:r>
            <a:endParaRPr lang="en-US" sz="1350" dirty="0"/>
          </a:p>
        </p:txBody>
      </p:sp>
      <p:sp>
        <p:nvSpPr>
          <p:cNvPr id="25" name="Slide Number Placeholder 0"/>
          <p:cNvSpPr>
            <a:spLocks noGrp="1"/>
          </p:cNvSpPr>
          <p:nvPr>
            <p:ph type="sldNum" sz="quarter" idx="4294967295"/>
          </p:nvPr>
        </p:nvSpPr>
        <p:spPr>
          <a:xfrm>
            <a:off x="1132301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6F"/>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0362895" cy="685800"/>
          </a:xfrm>
          <a:prstGeom prst="rect">
            <a:avLst/>
          </a:prstGeom>
          <a:noFill/>
          <a:ln/>
        </p:spPr>
        <p:txBody>
          <a:bodyPr wrap="square" lIns="0" tIns="0" rIns="0" bIns="0" rtlCol="0" anchor="ctr"/>
          <a:lstStyle/>
          <a:p>
            <a:pPr algn="l" indent="0" marL="0">
              <a:buNone/>
            </a:pPr>
            <a:r>
              <a:rPr lang="en-US" sz="3000" b="1" dirty="0">
                <a:solidFill>
                  <a:srgbClr val="2C5F2D"/>
                </a:solidFill>
                <a:latin typeface="Cambria" pitchFamily="34" charset="0"/>
                <a:ea typeface="Cambria" pitchFamily="34" charset="-122"/>
                <a:cs typeface="Cambria" pitchFamily="34" charset="-120"/>
              </a:rPr>
              <a:t>Does it transfer? A simulated shift we can actually score</a:t>
            </a:r>
            <a:endParaRPr lang="en-US" sz="3000" dirty="0"/>
          </a:p>
        </p:txBody>
      </p:sp>
      <p:graphicFrame>
        <p:nvGraphicFramePr>
          <p:cNvPr id="4" name="Chart 0" descr=""/>
          <p:cNvGraphicFramePr/>
          <p:nvPr/>
        </p:nvGraphicFramePr>
        <p:xfrm>
          <a:off x="548640" y="1280160"/>
          <a:ext cx="6949440" cy="457200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7863840" y="1325880"/>
            <a:ext cx="3749040" cy="4526280"/>
          </a:xfrm>
          <a:prstGeom prst="roundRect">
            <a:avLst>
              <a:gd name="adj" fmla="val 1951"/>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6" name="Text 2"/>
          <p:cNvSpPr txBox="1"/>
          <p:nvPr/>
        </p:nvSpPr>
        <p:spPr>
          <a:xfrm>
            <a:off x="8138160" y="1463040"/>
            <a:ext cx="3291840" cy="411480"/>
          </a:xfrm>
          <a:prstGeom prst="rect">
            <a:avLst/>
          </a:prstGeom>
          <a:noFill/>
          <a:ln/>
        </p:spPr>
        <p:txBody>
          <a:bodyPr wrap="square" lIns="0" tIns="0" rIns="0" bIns="0" rtlCol="0" anchor="t"/>
          <a:lstStyle/>
          <a:p>
            <a:pPr indent="0" marL="0">
              <a:buNone/>
            </a:pPr>
            <a:r>
              <a:rPr lang="en-US" sz="1700" b="1" dirty="0">
                <a:solidFill>
                  <a:srgbClr val="2C5F2D"/>
                </a:solidFill>
                <a:latin typeface="Cambria" pitchFamily="34" charset="0"/>
                <a:ea typeface="Cambria" pitchFamily="34" charset="-122"/>
                <a:cs typeface="Cambria" pitchFamily="34" charset="-120"/>
              </a:rPr>
              <a:t>Reading it</a:t>
            </a:r>
            <a:endParaRPr lang="en-US" sz="1700" dirty="0"/>
          </a:p>
        </p:txBody>
      </p:sp>
      <p:sp>
        <p:nvSpPr>
          <p:cNvPr id="7" name="Text 3"/>
          <p:cNvSpPr txBox="1"/>
          <p:nvPr/>
        </p:nvSpPr>
        <p:spPr>
          <a:xfrm>
            <a:off x="8138160" y="2011680"/>
            <a:ext cx="3291840" cy="3657600"/>
          </a:xfrm>
          <a:prstGeom prst="rect">
            <a:avLst/>
          </a:prstGeom>
          <a:noFill/>
          <a:ln/>
        </p:spPr>
        <p:txBody>
          <a:bodyPr wrap="square" lIns="0" tIns="0" rIns="0" bIns="0" rtlCol="0" anchor="t"/>
          <a:lstStyle/>
          <a:p>
            <a:pPr marL="342900" indent="-342900">
              <a:spcAft>
                <a:spcPts val="1000"/>
              </a:spcAft>
              <a:buSzPct val="100000"/>
              <a:buChar char="•"/>
            </a:pPr>
            <a:r>
              <a:rPr lang="en-US" sz="1350" dirty="0">
                <a:solidFill>
                  <a:srgbClr val="445645"/>
                </a:solidFill>
                <a:latin typeface="Calibri" pitchFamily="34" charset="0"/>
                <a:ea typeface="Calibri" pitchFamily="34" charset="-122"/>
                <a:cs typeface="Calibri" pitchFamily="34" charset="-120"/>
              </a:rPr>
              <a:t>Trained with no shipments from Asia; tested on 334k held-out Asia line items</a:t>
            </a:r>
            <a:endParaRPr lang="en-US" sz="1350" dirty="0"/>
          </a:p>
          <a:p>
            <a:pPr marL="342900" indent="-342900">
              <a:spcAft>
                <a:spcPts val="1000"/>
              </a:spcAft>
              <a:buSzPct val="100000"/>
              <a:buChar char="•"/>
            </a:pPr>
            <a:r>
              <a:rPr lang="en-US" sz="1350" dirty="0">
                <a:solidFill>
                  <a:srgbClr val="445645"/>
                </a:solidFill>
                <a:latin typeface="Calibri" pitchFamily="34" charset="0"/>
                <a:ea typeface="Calibri" pitchFamily="34" charset="-122"/>
                <a:cs typeface="Calibri" pitchFamily="34" charset="-120"/>
              </a:rPr>
              <a:t>Re-normalising peer norms needs no labels - it is the step we apply to CITES</a:t>
            </a:r>
            <a:endParaRPr lang="en-US" sz="1350" dirty="0"/>
          </a:p>
          <a:p>
            <a:pPr marL="342900" indent="-342900">
              <a:spcAft>
                <a:spcPts val="1000"/>
              </a:spcAft>
              <a:buSzPct val="100000"/>
              <a:buChar char="•"/>
            </a:pPr>
            <a:r>
              <a:rPr lang="en-US" sz="1350" dirty="0">
                <a:solidFill>
                  <a:srgbClr val="445645"/>
                </a:solidFill>
                <a:latin typeface="Calibri" pitchFamily="34" charset="0"/>
                <a:ea typeface="Calibri" pitchFamily="34" charset="-122"/>
                <a:cs typeface="Calibri" pitchFamily="34" charset="-120"/>
              </a:rPr>
              <a:t>A small labelled sample from the target closes much of the gap - the strongest lever for a real deployment</a:t>
            </a:r>
            <a:endParaRPr lang="en-US" sz="1350" dirty="0"/>
          </a:p>
          <a:p>
            <a:pPr marL="342900" indent="-342900">
              <a:spcAft>
                <a:spcPts val="1000"/>
              </a:spcAft>
              <a:buSzPct val="100000"/>
              <a:buChar char="•"/>
            </a:pPr>
            <a:r>
              <a:rPr lang="en-US" sz="1350" dirty="0">
                <a:solidFill>
                  <a:srgbClr val="445645"/>
                </a:solidFill>
                <a:latin typeface="Calibri" pitchFamily="34" charset="0"/>
                <a:ea typeface="Calibri" pitchFamily="34" charset="-122"/>
                <a:cs typeface="Calibri" pitchFamily="34" charset="-120"/>
              </a:rPr>
              <a:t>Importance weighting: best here, but worse on CITES-listed LEMIS records (0.600 vs 0.630) - not deployed</a:t>
            </a:r>
            <a:endParaRPr lang="en-US" sz="1350" dirty="0"/>
          </a:p>
        </p:txBody>
      </p:sp>
      <p:sp>
        <p:nvSpPr>
          <p:cNvPr id="25" name="Slide Number Placeholder 0"/>
          <p:cNvSpPr>
            <a:spLocks noGrp="1"/>
          </p:cNvSpPr>
          <p:nvPr>
            <p:ph type="sldNum" sz="quarter" idx="4294967295"/>
          </p:nvPr>
        </p:nvSpPr>
        <p:spPr>
          <a:xfrm>
            <a:off x="1132301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6F"/>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0362895" cy="685800"/>
          </a:xfrm>
          <a:prstGeom prst="rect">
            <a:avLst/>
          </a:prstGeom>
          <a:noFill/>
          <a:ln/>
        </p:spPr>
        <p:txBody>
          <a:bodyPr wrap="square" lIns="0" tIns="0" rIns="0" bIns="0" rtlCol="0" anchor="ctr"/>
          <a:lstStyle/>
          <a:p>
            <a:pPr algn="l" indent="0" marL="0">
              <a:buNone/>
            </a:pPr>
            <a:r>
              <a:rPr lang="en-US" sz="3000" b="1" dirty="0">
                <a:solidFill>
                  <a:srgbClr val="2C5F2D"/>
                </a:solidFill>
                <a:latin typeface="Cambria" pitchFamily="34" charset="0"/>
                <a:ea typeface="Cambria" pitchFamily="34" charset="-122"/>
                <a:cs typeface="Cambria" pitchFamily="34" charset="-120"/>
              </a:rPr>
              <a:t>What WildGuard surfaces in CITES, 2015-2024</a:t>
            </a:r>
            <a:endParaRPr lang="en-US" sz="3000" dirty="0"/>
          </a:p>
        </p:txBody>
      </p:sp>
      <p:graphicFrame>
        <p:nvGraphicFramePr>
          <p:cNvPr id="4" name="Chart 0" descr=""/>
          <p:cNvGraphicFramePr/>
          <p:nvPr/>
        </p:nvGraphicFramePr>
        <p:xfrm>
          <a:off x="548640" y="1280160"/>
          <a:ext cx="6035040" cy="457200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6949440" y="1325880"/>
            <a:ext cx="4663440" cy="2103120"/>
          </a:xfrm>
          <a:prstGeom prst="roundRect">
            <a:avLst>
              <a:gd name="adj" fmla="val 3478"/>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6" name="Text 2"/>
          <p:cNvSpPr txBox="1"/>
          <p:nvPr/>
        </p:nvSpPr>
        <p:spPr>
          <a:xfrm>
            <a:off x="7223760" y="1508760"/>
            <a:ext cx="4206240" cy="731520"/>
          </a:xfrm>
          <a:prstGeom prst="rect">
            <a:avLst/>
          </a:prstGeom>
          <a:noFill/>
          <a:ln/>
        </p:spPr>
        <p:txBody>
          <a:bodyPr wrap="square" lIns="0" tIns="0" rIns="0" bIns="0" rtlCol="0" anchor="t"/>
          <a:lstStyle/>
          <a:p>
            <a:pPr indent="0" marL="0">
              <a:buNone/>
            </a:pPr>
            <a:r>
              <a:rPr lang="en-US" sz="3200" b="1" dirty="0">
                <a:solidFill>
                  <a:srgbClr val="2C5F2D"/>
                </a:solidFill>
                <a:latin typeface="Cambria" pitchFamily="34" charset="0"/>
                <a:ea typeface="Cambria" pitchFamily="34" charset="-122"/>
                <a:cs typeface="Cambria" pitchFamily="34" charset="-120"/>
              </a:rPr>
              <a:t>ρ = 0.864</a:t>
            </a:r>
            <a:endParaRPr lang="en-US" sz="3200" dirty="0"/>
          </a:p>
        </p:txBody>
      </p:sp>
      <p:sp>
        <p:nvSpPr>
          <p:cNvPr id="7" name="Text 3"/>
          <p:cNvSpPr txBox="1"/>
          <p:nvPr/>
        </p:nvSpPr>
        <p:spPr>
          <a:xfrm>
            <a:off x="7223760" y="2286000"/>
            <a:ext cx="4206240" cy="1005840"/>
          </a:xfrm>
          <a:prstGeom prst="rect">
            <a:avLst/>
          </a:prstGeom>
          <a:noFill/>
          <a:ln/>
        </p:spPr>
        <p:txBody>
          <a:bodyPr wrap="square" lIns="0" tIns="0" rIns="0" bIns="0" rtlCol="0" anchor="t"/>
          <a:lstStyle/>
          <a:p>
            <a:pPr indent="0" marL="0">
              <a:buNone/>
            </a:pPr>
            <a:r>
              <a:rPr lang="en-US" sz="1350" dirty="0">
                <a:solidFill>
                  <a:srgbClr val="445645"/>
                </a:solidFill>
                <a:latin typeface="Calibri" pitchFamily="34" charset="0"/>
                <a:ea typeface="Calibri" pitchFamily="34" charset="-122"/>
                <a:cs typeface="Calibri" pitchFamily="34" charset="-120"/>
              </a:rPr>
              <a:t>UNODC consistency (p = 0.0001, 14 species groups): flags track seizure-to-trade ratio</a:t>
            </a:r>
            <a:endParaRPr lang="en-US" sz="1350" dirty="0"/>
          </a:p>
        </p:txBody>
      </p:sp>
      <p:sp>
        <p:nvSpPr>
          <p:cNvPr id="8" name="Shape 4"/>
          <p:cNvSpPr/>
          <p:nvPr/>
        </p:nvSpPr>
        <p:spPr>
          <a:xfrm>
            <a:off x="6949440" y="3611880"/>
            <a:ext cx="4663440" cy="2103120"/>
          </a:xfrm>
          <a:prstGeom prst="roundRect">
            <a:avLst>
              <a:gd name="adj" fmla="val 3478"/>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9" name="Text 5"/>
          <p:cNvSpPr txBox="1"/>
          <p:nvPr/>
        </p:nvSpPr>
        <p:spPr>
          <a:xfrm>
            <a:off x="7223760" y="3794760"/>
            <a:ext cx="4206240" cy="731520"/>
          </a:xfrm>
          <a:prstGeom prst="rect">
            <a:avLst/>
          </a:prstGeom>
          <a:noFill/>
          <a:ln/>
        </p:spPr>
        <p:txBody>
          <a:bodyPr wrap="square" lIns="0" tIns="0" rIns="0" bIns="0" rtlCol="0" anchor="t"/>
          <a:lstStyle/>
          <a:p>
            <a:pPr indent="0" marL="0">
              <a:buNone/>
            </a:pPr>
            <a:r>
              <a:rPr lang="en-US" sz="3200" b="1" dirty="0">
                <a:solidFill>
                  <a:srgbClr val="2C5F2D"/>
                </a:solidFill>
                <a:latin typeface="Cambria" pitchFamily="34" charset="0"/>
                <a:ea typeface="Cambria" pitchFamily="34" charset="-122"/>
                <a:cs typeface="Cambria" pitchFamily="34" charset="-120"/>
              </a:rPr>
              <a:t>AUC 0.874</a:t>
            </a:r>
            <a:endParaRPr lang="en-US" sz="3200" dirty="0"/>
          </a:p>
        </p:txBody>
      </p:sp>
      <p:sp>
        <p:nvSpPr>
          <p:cNvPr id="10" name="Text 6"/>
          <p:cNvSpPr txBox="1"/>
          <p:nvPr/>
        </p:nvSpPr>
        <p:spPr>
          <a:xfrm>
            <a:off x="7223760" y="4572000"/>
            <a:ext cx="4206240" cy="1005840"/>
          </a:xfrm>
          <a:prstGeom prst="rect">
            <a:avLst/>
          </a:prstGeom>
          <a:noFill/>
          <a:ln/>
        </p:spPr>
        <p:txBody>
          <a:bodyPr wrap="square" lIns="0" tIns="0" rIns="0" bIns="0" rtlCol="0" anchor="t"/>
          <a:lstStyle/>
          <a:p>
            <a:pPr indent="0" marL="0">
              <a:buNone/>
            </a:pPr>
            <a:r>
              <a:rPr lang="en-US" sz="1350" dirty="0">
                <a:solidFill>
                  <a:srgbClr val="445645"/>
                </a:solidFill>
                <a:latin typeface="Calibri" pitchFamily="34" charset="0"/>
                <a:ea typeface="Calibri" pitchFamily="34" charset="-122"/>
                <a:cs typeface="Calibri" pitchFamily="34" charset="-120"/>
              </a:rPr>
              <a:t>Confiscated-specimen proxy: 32,959 CITES records with source "I", ranked without the source field</a:t>
            </a:r>
            <a:endParaRPr lang="en-US" sz="1350" dirty="0"/>
          </a:p>
        </p:txBody>
      </p:sp>
      <p:sp>
        <p:nvSpPr>
          <p:cNvPr id="11" name="Text 7"/>
          <p:cNvSpPr txBox="1"/>
          <p:nvPr/>
        </p:nvSpPr>
        <p:spPr>
          <a:xfrm>
            <a:off x="6949440" y="5897880"/>
            <a:ext cx="4663440" cy="274320"/>
          </a:xfrm>
          <a:prstGeom prst="rect">
            <a:avLst/>
          </a:prstGeom>
          <a:noFill/>
          <a:ln/>
        </p:spPr>
        <p:txBody>
          <a:bodyPr wrap="square" lIns="0" tIns="0" rIns="0" bIns="0" rtlCol="0" anchor="t"/>
          <a:lstStyle/>
          <a:p>
            <a:pPr indent="0" marL="0">
              <a:buNone/>
            </a:pPr>
            <a:r>
              <a:rPr lang="en-US" sz="1100" i="1" dirty="0">
                <a:solidFill>
                  <a:srgbClr val="6E7F6F"/>
                </a:solidFill>
                <a:latin typeface="Calibri" pitchFamily="34" charset="0"/>
                <a:ea typeface="Calibri" pitchFamily="34" charset="-122"/>
                <a:cs typeface="Calibri" pitchFamily="34" charset="-120"/>
              </a:rPr>
              <a:t>Directional consistency only - no precision/recall claim is possible without CITES labels</a:t>
            </a:r>
            <a:endParaRPr lang="en-US" sz="1100" dirty="0"/>
          </a:p>
        </p:txBody>
      </p:sp>
      <p:sp>
        <p:nvSpPr>
          <p:cNvPr id="25" name="Slide Number Placeholder 0"/>
          <p:cNvSpPr>
            <a:spLocks noGrp="1"/>
          </p:cNvSpPr>
          <p:nvPr>
            <p:ph type="sldNum" sz="quarter" idx="4294967295"/>
          </p:nvPr>
        </p:nvSpPr>
        <p:spPr>
          <a:xfrm>
            <a:off x="1132301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6F"/>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0362895" cy="685800"/>
          </a:xfrm>
          <a:prstGeom prst="rect">
            <a:avLst/>
          </a:prstGeom>
          <a:noFill/>
          <a:ln/>
        </p:spPr>
        <p:txBody>
          <a:bodyPr wrap="square" lIns="0" tIns="0" rIns="0" bIns="0" rtlCol="0" anchor="ctr"/>
          <a:lstStyle/>
          <a:p>
            <a:pPr algn="l" indent="0" marL="0">
              <a:buNone/>
            </a:pPr>
            <a:r>
              <a:rPr lang="en-US" sz="3000" b="1" dirty="0">
                <a:solidFill>
                  <a:srgbClr val="2C5F2D"/>
                </a:solidFill>
                <a:latin typeface="Cambria" pitchFamily="34" charset="0"/>
                <a:ea typeface="Cambria" pitchFamily="34" charset="-122"/>
                <a:cs typeface="Cambria" pitchFamily="34" charset="-120"/>
              </a:rPr>
              <a:t>Demo: the WildGuard review tool</a:t>
            </a:r>
            <a:endParaRPr lang="en-US" sz="3000" dirty="0"/>
          </a:p>
        </p:txBody>
      </p:sp>
      <p:sp>
        <p:nvSpPr>
          <p:cNvPr id="4" name="Shape 1"/>
          <p:cNvSpPr/>
          <p:nvPr/>
        </p:nvSpPr>
        <p:spPr>
          <a:xfrm>
            <a:off x="548640" y="1280160"/>
            <a:ext cx="5440680" cy="4343400"/>
          </a:xfrm>
          <a:prstGeom prst="roundRect">
            <a:avLst>
              <a:gd name="adj" fmla="val 1684"/>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pic>
        <p:nvPicPr>
          <p:cNvPr id="5" name="Image 0" descr="/private/tmp/claude-503/-Users-adhithi-m-Desktop-Masters-Class-Notes---Review-1st-Year-Pattern-Recognition-Systems/3d956fe8-3803-4740-9b99-087bcc38d79c/scratchpad/deck/shots/queue_crop.png">    </p:cNvPr>
          <p:cNvPicPr>
            <a:picLocks noChangeAspect="1"/>
          </p:cNvPicPr>
          <p:nvPr/>
        </p:nvPicPr>
        <p:blipFill>
          <a:blip r:embed="rId1"/>
          <a:stretch>
            <a:fillRect/>
          </a:stretch>
        </p:blipFill>
        <p:spPr>
          <a:xfrm>
            <a:off x="1287780" y="1389888"/>
            <a:ext cx="3962400" cy="3657600"/>
          </a:xfrm>
          <a:prstGeom prst="rect">
            <a:avLst/>
          </a:prstGeom>
        </p:spPr>
      </p:pic>
      <p:sp>
        <p:nvSpPr>
          <p:cNvPr id="6" name="Text 2"/>
          <p:cNvSpPr txBox="1"/>
          <p:nvPr/>
        </p:nvSpPr>
        <p:spPr>
          <a:xfrm>
            <a:off x="731520" y="5138928"/>
            <a:ext cx="5029200" cy="365760"/>
          </a:xfrm>
          <a:prstGeom prst="rect">
            <a:avLst/>
          </a:prstGeom>
          <a:noFill/>
          <a:ln/>
        </p:spPr>
        <p:txBody>
          <a:bodyPr wrap="square" lIns="0" tIns="0" rIns="0" bIns="0" rtlCol="0" anchor="t"/>
          <a:lstStyle/>
          <a:p>
            <a:pPr indent="0" marL="0">
              <a:buNone/>
            </a:pPr>
            <a:r>
              <a:rPr lang="en-US" sz="1400" b="1" dirty="0">
                <a:solidFill>
                  <a:srgbClr val="1A2E1B"/>
                </a:solidFill>
                <a:latin typeface="Calibri" pitchFamily="34" charset="0"/>
                <a:ea typeface="Calibri" pitchFamily="34" charset="-122"/>
                <a:cs typeface="Calibri" pitchFamily="34" charset="-120"/>
              </a:rPr>
              <a:t>Review queue + flag card</a:t>
            </a:r>
            <a:endParaRPr lang="en-US" sz="1400" dirty="0"/>
          </a:p>
        </p:txBody>
      </p:sp>
      <p:sp>
        <p:nvSpPr>
          <p:cNvPr id="7" name="Shape 3"/>
          <p:cNvSpPr/>
          <p:nvPr/>
        </p:nvSpPr>
        <p:spPr>
          <a:xfrm>
            <a:off x="6172200" y="1280160"/>
            <a:ext cx="5440680" cy="4343400"/>
          </a:xfrm>
          <a:prstGeom prst="roundRect">
            <a:avLst>
              <a:gd name="adj" fmla="val 1684"/>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pic>
        <p:nvPicPr>
          <p:cNvPr id="8" name="Image 1" descr="/private/tmp/claude-503/-Users-adhithi-m-Desktop-Masters-Class-Notes---Review-1st-Year-Pattern-Recognition-Systems/3d956fe8-3803-4740-9b99-087bcc38d79c/scratchpad/deck/shots/check_crop.png">    </p:cNvPr>
          <p:cNvPicPr>
            <a:picLocks noChangeAspect="1"/>
          </p:cNvPicPr>
          <p:nvPr/>
        </p:nvPicPr>
        <p:blipFill>
          <a:blip r:embed="rId2"/>
          <a:stretch>
            <a:fillRect/>
          </a:stretch>
        </p:blipFill>
        <p:spPr>
          <a:xfrm>
            <a:off x="6281928" y="2257838"/>
            <a:ext cx="5221224" cy="1921701"/>
          </a:xfrm>
          <a:prstGeom prst="rect">
            <a:avLst/>
          </a:prstGeom>
        </p:spPr>
      </p:pic>
      <p:sp>
        <p:nvSpPr>
          <p:cNvPr id="9" name="Text 4"/>
          <p:cNvSpPr txBox="1"/>
          <p:nvPr/>
        </p:nvSpPr>
        <p:spPr>
          <a:xfrm>
            <a:off x="6355080" y="5138928"/>
            <a:ext cx="5029200" cy="365760"/>
          </a:xfrm>
          <a:prstGeom prst="rect">
            <a:avLst/>
          </a:prstGeom>
          <a:noFill/>
          <a:ln/>
        </p:spPr>
        <p:txBody>
          <a:bodyPr wrap="square" lIns="0" tIns="0" rIns="0" bIns="0" rtlCol="0" anchor="t"/>
          <a:lstStyle/>
          <a:p>
            <a:pPr indent="0" marL="0">
              <a:buNone/>
            </a:pPr>
            <a:r>
              <a:rPr lang="en-US" sz="1400" b="1" dirty="0">
                <a:solidFill>
                  <a:srgbClr val="1A2E1B"/>
                </a:solidFill>
                <a:latin typeface="Calibri" pitchFamily="34" charset="0"/>
                <a:ea typeface="Calibri" pitchFamily="34" charset="-122"/>
                <a:cs typeface="Calibri" pitchFamily="34" charset="-120"/>
              </a:rPr>
              <a:t>Check a shipment: the tortoise case</a:t>
            </a:r>
            <a:endParaRPr lang="en-US" sz="1400" dirty="0"/>
          </a:p>
        </p:txBody>
      </p:sp>
      <p:sp>
        <p:nvSpPr>
          <p:cNvPr id="10" name="Text 5"/>
          <p:cNvSpPr txBox="1"/>
          <p:nvPr/>
        </p:nvSpPr>
        <p:spPr>
          <a:xfrm>
            <a:off x="548640" y="5806440"/>
            <a:ext cx="10972800" cy="320040"/>
          </a:xfrm>
          <a:prstGeom prst="rect">
            <a:avLst/>
          </a:prstGeom>
          <a:noFill/>
          <a:ln/>
        </p:spPr>
        <p:txBody>
          <a:bodyPr wrap="square" lIns="0" tIns="0" rIns="0" bIns="0" rtlCol="0" anchor="t"/>
          <a:lstStyle/>
          <a:p>
            <a:pPr indent="0" marL="0">
              <a:buNone/>
            </a:pPr>
            <a:r>
              <a:rPr lang="en-US" sz="1200" dirty="0">
                <a:solidFill>
                  <a:srgbClr val="445645"/>
                </a:solidFill>
                <a:latin typeface="Courier New" pitchFamily="34" charset="0"/>
                <a:ea typeface="Courier New" pitchFamily="34" charset="-122"/>
                <a:cs typeface="Courier New" pitchFamily="34" charset="-120"/>
              </a:rPr>
              <a:t>streamlit run "SYSTEM CODE/app/app.py"</a:t>
            </a:r>
            <a:endParaRPr lang="en-US" sz="1200" dirty="0"/>
          </a:p>
        </p:txBody>
      </p:sp>
      <p:sp>
        <p:nvSpPr>
          <p:cNvPr id="25" name="Slide Number Placeholder 0"/>
          <p:cNvSpPr>
            <a:spLocks noGrp="1"/>
          </p:cNvSpPr>
          <p:nvPr>
            <p:ph type="sldNum" sz="quarter" idx="4294967295"/>
          </p:nvPr>
        </p:nvSpPr>
        <p:spPr>
          <a:xfrm>
            <a:off x="1132301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6F"/>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548640" y="320040"/>
            <a:ext cx="10362895" cy="685800"/>
          </a:xfrm>
          <a:prstGeom prst="rect">
            <a:avLst/>
          </a:prstGeom>
          <a:noFill/>
          <a:ln/>
        </p:spPr>
        <p:txBody>
          <a:bodyPr wrap="square" lIns="0" tIns="0" rIns="0" bIns="0" rtlCol="0" anchor="ctr"/>
          <a:lstStyle/>
          <a:p>
            <a:pPr algn="l" indent="0" marL="0">
              <a:buNone/>
            </a:pPr>
            <a:r>
              <a:rPr lang="en-US" sz="3000" b="1" dirty="0">
                <a:solidFill>
                  <a:srgbClr val="2C5F2D"/>
                </a:solidFill>
                <a:latin typeface="Cambria" pitchFamily="34" charset="0"/>
                <a:ea typeface="Cambria" pitchFamily="34" charset="-122"/>
                <a:cs typeface="Cambria" pitchFamily="34" charset="-120"/>
              </a:rPr>
              <a:t>Limitations, stated plainly</a:t>
            </a:r>
            <a:endParaRPr lang="en-US" sz="3000" dirty="0"/>
          </a:p>
        </p:txBody>
      </p:sp>
      <p:sp>
        <p:nvSpPr>
          <p:cNvPr id="4" name="Shape 1"/>
          <p:cNvSpPr/>
          <p:nvPr/>
        </p:nvSpPr>
        <p:spPr>
          <a:xfrm>
            <a:off x="548640" y="1280160"/>
            <a:ext cx="5440680" cy="1417320"/>
          </a:xfrm>
          <a:prstGeom prst="roundRect">
            <a:avLst>
              <a:gd name="adj" fmla="val 5161"/>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5" name="Shape 2"/>
          <p:cNvSpPr/>
          <p:nvPr/>
        </p:nvSpPr>
        <p:spPr>
          <a:xfrm>
            <a:off x="777240" y="1627632"/>
            <a:ext cx="685800" cy="685800"/>
          </a:xfrm>
          <a:prstGeom prst="ellipse">
            <a:avLst/>
          </a:prstGeom>
          <a:solidFill>
            <a:srgbClr val="2C5F2D"/>
          </a:solidFill>
          <a:ln w="12700">
            <a:solidFill>
              <a:srgbClr val="2C5F2D"/>
            </a:solidFill>
            <a:prstDash val="solid"/>
          </a:ln>
        </p:spPr>
      </p:sp>
      <p:pic>
        <p:nvPicPr>
          <p:cNvPr id="6" name="Image 0" descr="/private/tmp/claude-503/-Users-adhithi-m-Desktop-Masters-Class-Notes---Review-1st-Year-Pattern-Recognition-Systems/3d956fe8-3803-4740-9b99-087bcc38d79c/scratchpad/deck/first_deck/ppt/media/image8.png">    </p:cNvPr>
          <p:cNvPicPr>
            <a:picLocks noChangeAspect="1"/>
          </p:cNvPicPr>
          <p:nvPr/>
        </p:nvPicPr>
        <p:blipFill>
          <a:blip r:embed="rId1"/>
          <a:stretch>
            <a:fillRect/>
          </a:stretch>
        </p:blipFill>
        <p:spPr>
          <a:xfrm>
            <a:off x="928116" y="1778508"/>
            <a:ext cx="384048" cy="384048"/>
          </a:xfrm>
          <a:prstGeom prst="rect">
            <a:avLst/>
          </a:prstGeom>
        </p:spPr>
      </p:pic>
      <p:sp>
        <p:nvSpPr>
          <p:cNvPr id="7" name="Text 3"/>
          <p:cNvSpPr txBox="1"/>
          <p:nvPr/>
        </p:nvSpPr>
        <p:spPr>
          <a:xfrm>
            <a:off x="1645920" y="1444752"/>
            <a:ext cx="4160520" cy="365760"/>
          </a:xfrm>
          <a:prstGeom prst="rect">
            <a:avLst/>
          </a:prstGeom>
          <a:noFill/>
          <a:ln/>
        </p:spPr>
        <p:txBody>
          <a:bodyPr wrap="square" lIns="0" tIns="0" rIns="0" bIns="0" rtlCol="0" anchor="t"/>
          <a:lstStyle/>
          <a:p>
            <a:pPr indent="0" marL="0">
              <a:buNone/>
            </a:pPr>
            <a:r>
              <a:rPr lang="en-US" sz="1600" b="1" dirty="0">
                <a:solidFill>
                  <a:srgbClr val="2C5F2D"/>
                </a:solidFill>
                <a:latin typeface="Calibri" pitchFamily="34" charset="0"/>
                <a:ea typeface="Calibri" pitchFamily="34" charset="-122"/>
                <a:cs typeface="Calibri" pitchFamily="34" charset="-120"/>
              </a:rPr>
              <a:t>A flag is a prompt, not proof</a:t>
            </a:r>
            <a:endParaRPr lang="en-US" sz="1600" dirty="0"/>
          </a:p>
        </p:txBody>
      </p:sp>
      <p:sp>
        <p:nvSpPr>
          <p:cNvPr id="8" name="Text 4"/>
          <p:cNvSpPr txBox="1"/>
          <p:nvPr/>
        </p:nvSpPr>
        <p:spPr>
          <a:xfrm>
            <a:off x="1645920" y="1828800"/>
            <a:ext cx="4206240" cy="777240"/>
          </a:xfrm>
          <a:prstGeom prst="rect">
            <a:avLst/>
          </a:prstGeom>
          <a:noFill/>
          <a:ln/>
        </p:spPr>
        <p:txBody>
          <a:bodyPr wrap="square" lIns="0" tIns="0" rIns="0" bIns="0" rtlCol="0" anchor="t"/>
          <a:lstStyle/>
          <a:p>
            <a:pPr indent="0" marL="0">
              <a:buNone/>
            </a:pPr>
            <a:r>
              <a:rPr lang="en-US" sz="1300" dirty="0">
                <a:solidFill>
                  <a:srgbClr val="445645"/>
                </a:solidFill>
                <a:latin typeface="Calibri" pitchFamily="34" charset="0"/>
                <a:ea typeface="Calibri" pitchFamily="34" charset="-122"/>
                <a:cs typeface="Calibri" pitchFamily="34" charset="-120"/>
              </a:rPr>
              <a:t>Labels are enforcement outcomes (incl. paperwork refusals); on CITES only rankings transfer, not probabilities</a:t>
            </a:r>
            <a:endParaRPr lang="en-US" sz="1300" dirty="0"/>
          </a:p>
        </p:txBody>
      </p:sp>
      <p:sp>
        <p:nvSpPr>
          <p:cNvPr id="9" name="Shape 5"/>
          <p:cNvSpPr/>
          <p:nvPr/>
        </p:nvSpPr>
        <p:spPr>
          <a:xfrm>
            <a:off x="6172200" y="1280160"/>
            <a:ext cx="5440680" cy="1417320"/>
          </a:xfrm>
          <a:prstGeom prst="roundRect">
            <a:avLst>
              <a:gd name="adj" fmla="val 5161"/>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0" name="Shape 6"/>
          <p:cNvSpPr/>
          <p:nvPr/>
        </p:nvSpPr>
        <p:spPr>
          <a:xfrm>
            <a:off x="6400800" y="1627632"/>
            <a:ext cx="685800" cy="685800"/>
          </a:xfrm>
          <a:prstGeom prst="ellipse">
            <a:avLst/>
          </a:prstGeom>
          <a:solidFill>
            <a:srgbClr val="2C5F2D"/>
          </a:solidFill>
          <a:ln w="12700">
            <a:solidFill>
              <a:srgbClr val="2C5F2D"/>
            </a:solidFill>
            <a:prstDash val="solid"/>
          </a:ln>
        </p:spPr>
      </p:sp>
      <p:pic>
        <p:nvPicPr>
          <p:cNvPr id="11" name="Image 1" descr="/private/tmp/claude-503/-Users-adhithi-m-Desktop-Masters-Class-Notes---Review-1st-Year-Pattern-Recognition-Systems/3d956fe8-3803-4740-9b99-087bcc38d79c/scratchpad/deck/first_deck/ppt/media/image9.png">    </p:cNvPr>
          <p:cNvPicPr>
            <a:picLocks noChangeAspect="1"/>
          </p:cNvPicPr>
          <p:nvPr/>
        </p:nvPicPr>
        <p:blipFill>
          <a:blip r:embed="rId2"/>
          <a:stretch>
            <a:fillRect/>
          </a:stretch>
        </p:blipFill>
        <p:spPr>
          <a:xfrm>
            <a:off x="6551676" y="1778508"/>
            <a:ext cx="384048" cy="384048"/>
          </a:xfrm>
          <a:prstGeom prst="rect">
            <a:avLst/>
          </a:prstGeom>
        </p:spPr>
      </p:pic>
      <p:sp>
        <p:nvSpPr>
          <p:cNvPr id="12" name="Text 7"/>
          <p:cNvSpPr txBox="1"/>
          <p:nvPr/>
        </p:nvSpPr>
        <p:spPr>
          <a:xfrm>
            <a:off x="7269480" y="1444752"/>
            <a:ext cx="4160520" cy="365760"/>
          </a:xfrm>
          <a:prstGeom prst="rect">
            <a:avLst/>
          </a:prstGeom>
          <a:noFill/>
          <a:ln/>
        </p:spPr>
        <p:txBody>
          <a:bodyPr wrap="square" lIns="0" tIns="0" rIns="0" bIns="0" rtlCol="0" anchor="t"/>
          <a:lstStyle/>
          <a:p>
            <a:pPr indent="0" marL="0">
              <a:buNone/>
            </a:pPr>
            <a:r>
              <a:rPr lang="en-US" sz="1600" b="1" dirty="0">
                <a:solidFill>
                  <a:srgbClr val="2C5F2D"/>
                </a:solidFill>
                <a:latin typeface="Calibri" pitchFamily="34" charset="0"/>
                <a:ea typeface="Calibri" pitchFamily="34" charset="-122"/>
                <a:cs typeface="Calibri" pitchFamily="34" charset="-120"/>
              </a:rPr>
              <a:t>Old and US-centric labels</a:t>
            </a:r>
            <a:endParaRPr lang="en-US" sz="1600" dirty="0"/>
          </a:p>
        </p:txBody>
      </p:sp>
      <p:sp>
        <p:nvSpPr>
          <p:cNvPr id="13" name="Text 8"/>
          <p:cNvSpPr txBox="1"/>
          <p:nvPr/>
        </p:nvSpPr>
        <p:spPr>
          <a:xfrm>
            <a:off x="7269480" y="1828800"/>
            <a:ext cx="4206240" cy="777240"/>
          </a:xfrm>
          <a:prstGeom prst="rect">
            <a:avLst/>
          </a:prstGeom>
          <a:noFill/>
          <a:ln/>
        </p:spPr>
        <p:txBody>
          <a:bodyPr wrap="square" lIns="0" tIns="0" rIns="0" bIns="0" rtlCol="0" anchor="t"/>
          <a:lstStyle/>
          <a:p>
            <a:pPr indent="0" marL="0">
              <a:buNone/>
            </a:pPr>
            <a:r>
              <a:rPr lang="en-US" sz="1300" dirty="0">
                <a:solidFill>
                  <a:srgbClr val="445645"/>
                </a:solidFill>
                <a:latin typeface="Calibri" pitchFamily="34" charset="0"/>
                <a:ea typeface="Calibri" pitchFamily="34" charset="-122"/>
                <a:cs typeface="Calibri" pitchFamily="34" charset="-120"/>
              </a:rPr>
              <a:t>LEMIS covers 2000-2014 and US enforcement priorities; CITES 2015-2024 is global</a:t>
            </a:r>
            <a:endParaRPr lang="en-US" sz="1300" dirty="0"/>
          </a:p>
        </p:txBody>
      </p:sp>
      <p:sp>
        <p:nvSpPr>
          <p:cNvPr id="14" name="Shape 9"/>
          <p:cNvSpPr/>
          <p:nvPr/>
        </p:nvSpPr>
        <p:spPr>
          <a:xfrm>
            <a:off x="548640" y="2880360"/>
            <a:ext cx="5440680" cy="1417320"/>
          </a:xfrm>
          <a:prstGeom prst="roundRect">
            <a:avLst>
              <a:gd name="adj" fmla="val 5161"/>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5" name="Shape 10"/>
          <p:cNvSpPr/>
          <p:nvPr/>
        </p:nvSpPr>
        <p:spPr>
          <a:xfrm>
            <a:off x="777240" y="3227832"/>
            <a:ext cx="685800" cy="685800"/>
          </a:xfrm>
          <a:prstGeom prst="ellipse">
            <a:avLst/>
          </a:prstGeom>
          <a:solidFill>
            <a:srgbClr val="2C5F2D"/>
          </a:solidFill>
          <a:ln w="12700">
            <a:solidFill>
              <a:srgbClr val="2C5F2D"/>
            </a:solidFill>
            <a:prstDash val="solid"/>
          </a:ln>
        </p:spPr>
      </p:sp>
      <p:pic>
        <p:nvPicPr>
          <p:cNvPr id="16" name="Image 2" descr="/private/tmp/claude-503/-Users-adhithi-m-Desktop-Masters-Class-Notes---Review-1st-Year-Pattern-Recognition-Systems/3d956fe8-3803-4740-9b99-087bcc38d79c/scratchpad/deck/first_deck/ppt/media/image4.png">    </p:cNvPr>
          <p:cNvPicPr>
            <a:picLocks noChangeAspect="1"/>
          </p:cNvPicPr>
          <p:nvPr/>
        </p:nvPicPr>
        <p:blipFill>
          <a:blip r:embed="rId3"/>
          <a:stretch>
            <a:fillRect/>
          </a:stretch>
        </p:blipFill>
        <p:spPr>
          <a:xfrm>
            <a:off x="928116" y="3378708"/>
            <a:ext cx="384048" cy="384048"/>
          </a:xfrm>
          <a:prstGeom prst="rect">
            <a:avLst/>
          </a:prstGeom>
        </p:spPr>
      </p:pic>
      <p:sp>
        <p:nvSpPr>
          <p:cNvPr id="17" name="Text 11"/>
          <p:cNvSpPr txBox="1"/>
          <p:nvPr/>
        </p:nvSpPr>
        <p:spPr>
          <a:xfrm>
            <a:off x="1645920" y="3044952"/>
            <a:ext cx="4160520" cy="365760"/>
          </a:xfrm>
          <a:prstGeom prst="rect">
            <a:avLst/>
          </a:prstGeom>
          <a:noFill/>
          <a:ln/>
        </p:spPr>
        <p:txBody>
          <a:bodyPr wrap="square" lIns="0" tIns="0" rIns="0" bIns="0" rtlCol="0" anchor="t"/>
          <a:lstStyle/>
          <a:p>
            <a:pPr indent="0" marL="0">
              <a:buNone/>
            </a:pPr>
            <a:r>
              <a:rPr lang="en-US" sz="1600" b="1" dirty="0">
                <a:solidFill>
                  <a:srgbClr val="2C5F2D"/>
                </a:solidFill>
                <a:latin typeface="Calibri" pitchFamily="34" charset="0"/>
                <a:ea typeface="Calibri" pitchFamily="34" charset="-122"/>
                <a:cs typeface="Calibri" pitchFamily="34" charset="-120"/>
              </a:rPr>
              <a:t>Personal vs commercial</a:t>
            </a:r>
            <a:endParaRPr lang="en-US" sz="1600" dirty="0"/>
          </a:p>
        </p:txBody>
      </p:sp>
      <p:sp>
        <p:nvSpPr>
          <p:cNvPr id="18" name="Text 12"/>
          <p:cNvSpPr txBox="1"/>
          <p:nvPr/>
        </p:nvSpPr>
        <p:spPr>
          <a:xfrm>
            <a:off x="1645920" y="3429000"/>
            <a:ext cx="4206240" cy="777240"/>
          </a:xfrm>
          <a:prstGeom prst="rect">
            <a:avLst/>
          </a:prstGeom>
          <a:noFill/>
          <a:ln/>
        </p:spPr>
        <p:txBody>
          <a:bodyPr wrap="square" lIns="0" tIns="0" rIns="0" bIns="0" rtlCol="0" anchor="t"/>
          <a:lstStyle/>
          <a:p>
            <a:pPr indent="0" marL="0">
              <a:buNone/>
            </a:pPr>
            <a:r>
              <a:rPr lang="en-US" sz="1300" dirty="0">
                <a:solidFill>
                  <a:srgbClr val="445645"/>
                </a:solidFill>
                <a:latin typeface="Calibri" pitchFamily="34" charset="0"/>
                <a:ea typeface="Calibri" pitchFamily="34" charset="-122"/>
                <a:cs typeface="Calibri" pitchFamily="34" charset="-120"/>
              </a:rPr>
              <a:t>Half of LEMIS cases are personal imports; on commercial shipments only, PR-AUC is 0.276 (recall@5% 52%)</a:t>
            </a:r>
            <a:endParaRPr lang="en-US" sz="1300" dirty="0"/>
          </a:p>
        </p:txBody>
      </p:sp>
      <p:sp>
        <p:nvSpPr>
          <p:cNvPr id="19" name="Shape 13"/>
          <p:cNvSpPr/>
          <p:nvPr/>
        </p:nvSpPr>
        <p:spPr>
          <a:xfrm>
            <a:off x="6172200" y="2880360"/>
            <a:ext cx="5440680" cy="1417320"/>
          </a:xfrm>
          <a:prstGeom prst="roundRect">
            <a:avLst>
              <a:gd name="adj" fmla="val 5161"/>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20" name="Shape 14"/>
          <p:cNvSpPr/>
          <p:nvPr/>
        </p:nvSpPr>
        <p:spPr>
          <a:xfrm>
            <a:off x="6400800" y="3227832"/>
            <a:ext cx="685800" cy="685800"/>
          </a:xfrm>
          <a:prstGeom prst="ellipse">
            <a:avLst/>
          </a:prstGeom>
          <a:solidFill>
            <a:srgbClr val="2C5F2D"/>
          </a:solidFill>
          <a:ln w="12700">
            <a:solidFill>
              <a:srgbClr val="2C5F2D"/>
            </a:solidFill>
            <a:prstDash val="solid"/>
          </a:ln>
        </p:spPr>
      </p:sp>
      <p:pic>
        <p:nvPicPr>
          <p:cNvPr id="21" name="Image 3" descr="/private/tmp/claude-503/-Users-adhithi-m-Desktop-Masters-Class-Notes---Review-1st-Year-Pattern-Recognition-Systems/3d956fe8-3803-4740-9b99-087bcc38d79c/scratchpad/deck/first_deck/ppt/media/image3.png">    </p:cNvPr>
          <p:cNvPicPr>
            <a:picLocks noChangeAspect="1"/>
          </p:cNvPicPr>
          <p:nvPr/>
        </p:nvPicPr>
        <p:blipFill>
          <a:blip r:embed="rId4"/>
          <a:stretch>
            <a:fillRect/>
          </a:stretch>
        </p:blipFill>
        <p:spPr>
          <a:xfrm>
            <a:off x="6551676" y="3378708"/>
            <a:ext cx="384048" cy="384048"/>
          </a:xfrm>
          <a:prstGeom prst="rect">
            <a:avLst/>
          </a:prstGeom>
        </p:spPr>
      </p:pic>
      <p:sp>
        <p:nvSpPr>
          <p:cNvPr id="22" name="Text 15"/>
          <p:cNvSpPr txBox="1"/>
          <p:nvPr/>
        </p:nvSpPr>
        <p:spPr>
          <a:xfrm>
            <a:off x="7269480" y="3044952"/>
            <a:ext cx="4160520" cy="365760"/>
          </a:xfrm>
          <a:prstGeom prst="rect">
            <a:avLst/>
          </a:prstGeom>
          <a:noFill/>
          <a:ln/>
        </p:spPr>
        <p:txBody>
          <a:bodyPr wrap="square" lIns="0" tIns="0" rIns="0" bIns="0" rtlCol="0" anchor="t"/>
          <a:lstStyle/>
          <a:p>
            <a:pPr indent="0" marL="0">
              <a:buNone/>
            </a:pPr>
            <a:r>
              <a:rPr lang="en-US" sz="1600" b="1" dirty="0">
                <a:solidFill>
                  <a:srgbClr val="2C5F2D"/>
                </a:solidFill>
                <a:latin typeface="Calibri" pitchFamily="34" charset="0"/>
                <a:ea typeface="Calibri" pitchFamily="34" charset="-122"/>
                <a:cs typeface="Calibri" pitchFamily="34" charset="-120"/>
              </a:rPr>
              <a:t>Bias and feedback loops</a:t>
            </a:r>
            <a:endParaRPr lang="en-US" sz="1600" dirty="0"/>
          </a:p>
        </p:txBody>
      </p:sp>
      <p:sp>
        <p:nvSpPr>
          <p:cNvPr id="23" name="Text 16"/>
          <p:cNvSpPr txBox="1"/>
          <p:nvPr/>
        </p:nvSpPr>
        <p:spPr>
          <a:xfrm>
            <a:off x="7269480" y="3429000"/>
            <a:ext cx="4206240" cy="777240"/>
          </a:xfrm>
          <a:prstGeom prst="rect">
            <a:avLst/>
          </a:prstGeom>
          <a:noFill/>
          <a:ln/>
        </p:spPr>
        <p:txBody>
          <a:bodyPr wrap="square" lIns="0" tIns="0" rIns="0" bIns="0" rtlCol="0" anchor="t"/>
          <a:lstStyle/>
          <a:p>
            <a:pPr indent="0" marL="0">
              <a:buNone/>
            </a:pPr>
            <a:r>
              <a:rPr lang="en-US" sz="1300" dirty="0">
                <a:solidFill>
                  <a:srgbClr val="445645"/>
                </a:solidFill>
                <a:latin typeface="Calibri" pitchFamily="34" charset="0"/>
                <a:ea typeface="Calibri" pitchFamily="34" charset="-122"/>
                <a:cs typeface="Calibri" pitchFamily="34" charset="-120"/>
              </a:rPr>
              <a:t>Country features can encode where inspectors looked before - keep a human in the loop</a:t>
            </a:r>
            <a:endParaRPr lang="en-US" sz="1300" dirty="0"/>
          </a:p>
        </p:txBody>
      </p:sp>
      <p:sp>
        <p:nvSpPr>
          <p:cNvPr id="24" name="Shape 17"/>
          <p:cNvSpPr/>
          <p:nvPr/>
        </p:nvSpPr>
        <p:spPr>
          <a:xfrm>
            <a:off x="548640" y="4480560"/>
            <a:ext cx="5440680" cy="1417320"/>
          </a:xfrm>
          <a:prstGeom prst="roundRect">
            <a:avLst>
              <a:gd name="adj" fmla="val 5161"/>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25" name="Shape 18"/>
          <p:cNvSpPr/>
          <p:nvPr/>
        </p:nvSpPr>
        <p:spPr>
          <a:xfrm>
            <a:off x="777240" y="4828032"/>
            <a:ext cx="685800" cy="685800"/>
          </a:xfrm>
          <a:prstGeom prst="ellipse">
            <a:avLst/>
          </a:prstGeom>
          <a:solidFill>
            <a:srgbClr val="2C5F2D"/>
          </a:solidFill>
          <a:ln w="12700">
            <a:solidFill>
              <a:srgbClr val="2C5F2D"/>
            </a:solidFill>
            <a:prstDash val="solid"/>
          </a:ln>
        </p:spPr>
      </p:sp>
      <p:pic>
        <p:nvPicPr>
          <p:cNvPr id="26" name="Image 4" descr="/private/tmp/claude-503/-Users-adhithi-m-Desktop-Masters-Class-Notes---Review-1st-Year-Pattern-Recognition-Systems/3d956fe8-3803-4740-9b99-087bcc38d79c/scratchpad/deck/first_deck/ppt/media/image7.png">    </p:cNvPr>
          <p:cNvPicPr>
            <a:picLocks noChangeAspect="1"/>
          </p:cNvPicPr>
          <p:nvPr/>
        </p:nvPicPr>
        <p:blipFill>
          <a:blip r:embed="rId5"/>
          <a:stretch>
            <a:fillRect/>
          </a:stretch>
        </p:blipFill>
        <p:spPr>
          <a:xfrm>
            <a:off x="928116" y="4978908"/>
            <a:ext cx="384048" cy="384048"/>
          </a:xfrm>
          <a:prstGeom prst="rect">
            <a:avLst/>
          </a:prstGeom>
        </p:spPr>
      </p:pic>
      <p:sp>
        <p:nvSpPr>
          <p:cNvPr id="27" name="Text 19"/>
          <p:cNvSpPr txBox="1"/>
          <p:nvPr/>
        </p:nvSpPr>
        <p:spPr>
          <a:xfrm>
            <a:off x="1645920" y="4645152"/>
            <a:ext cx="4160520" cy="365760"/>
          </a:xfrm>
          <a:prstGeom prst="rect">
            <a:avLst/>
          </a:prstGeom>
          <a:noFill/>
          <a:ln/>
        </p:spPr>
        <p:txBody>
          <a:bodyPr wrap="square" lIns="0" tIns="0" rIns="0" bIns="0" rtlCol="0" anchor="t"/>
          <a:lstStyle/>
          <a:p>
            <a:pPr indent="0" marL="0">
              <a:buNone/>
            </a:pPr>
            <a:r>
              <a:rPr lang="en-US" sz="1600" b="1" dirty="0">
                <a:solidFill>
                  <a:srgbClr val="2C5F2D"/>
                </a:solidFill>
                <a:latin typeface="Calibri" pitchFamily="34" charset="0"/>
                <a:ea typeface="Calibri" pitchFamily="34" charset="-122"/>
                <a:cs typeface="Calibri" pitchFamily="34" charset="-120"/>
              </a:rPr>
              <a:t>Jurisdiction-specific labels</a:t>
            </a:r>
            <a:endParaRPr lang="en-US" sz="1600" dirty="0"/>
          </a:p>
        </p:txBody>
      </p:sp>
      <p:sp>
        <p:nvSpPr>
          <p:cNvPr id="28" name="Text 20"/>
          <p:cNvSpPr txBox="1"/>
          <p:nvPr/>
        </p:nvSpPr>
        <p:spPr>
          <a:xfrm>
            <a:off x="1645920" y="5029200"/>
            <a:ext cx="4206240" cy="777240"/>
          </a:xfrm>
          <a:prstGeom prst="rect">
            <a:avLst/>
          </a:prstGeom>
          <a:noFill/>
          <a:ln/>
        </p:spPr>
        <p:txBody>
          <a:bodyPr wrap="square" lIns="0" tIns="0" rIns="0" bIns="0" rtlCol="0" anchor="t"/>
          <a:lstStyle/>
          <a:p>
            <a:pPr indent="0" marL="0">
              <a:buNone/>
            </a:pPr>
            <a:r>
              <a:rPr lang="en-US" sz="1300" dirty="0">
                <a:solidFill>
                  <a:srgbClr val="445645"/>
                </a:solidFill>
                <a:latin typeface="Calibri" pitchFamily="34" charset="0"/>
                <a:ea typeface="Calibri" pitchFamily="34" charset="-122"/>
                <a:cs typeface="Calibri" pitchFamily="34" charset="-120"/>
              </a:rPr>
              <a:t>LEMIS refuses marine-mammal products 10x more often (US Marine Mammal Protection Act) - the model flags that trade abroad too</a:t>
            </a:r>
            <a:endParaRPr lang="en-US" sz="1300" dirty="0"/>
          </a:p>
        </p:txBody>
      </p:sp>
      <p:sp>
        <p:nvSpPr>
          <p:cNvPr id="29" name="Shape 21"/>
          <p:cNvSpPr/>
          <p:nvPr/>
        </p:nvSpPr>
        <p:spPr>
          <a:xfrm>
            <a:off x="6172200" y="4480560"/>
            <a:ext cx="5440680" cy="1417320"/>
          </a:xfrm>
          <a:prstGeom prst="roundRect">
            <a:avLst>
              <a:gd name="adj" fmla="val 5161"/>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30" name="Shape 22"/>
          <p:cNvSpPr/>
          <p:nvPr/>
        </p:nvSpPr>
        <p:spPr>
          <a:xfrm>
            <a:off x="6400800" y="4828032"/>
            <a:ext cx="685800" cy="685800"/>
          </a:xfrm>
          <a:prstGeom prst="ellipse">
            <a:avLst/>
          </a:prstGeom>
          <a:solidFill>
            <a:srgbClr val="2C5F2D"/>
          </a:solidFill>
          <a:ln w="12700">
            <a:solidFill>
              <a:srgbClr val="2C5F2D"/>
            </a:solidFill>
            <a:prstDash val="solid"/>
          </a:ln>
        </p:spPr>
      </p:sp>
      <p:pic>
        <p:nvPicPr>
          <p:cNvPr id="31" name="Image 5" descr="/private/tmp/claude-503/-Users-adhithi-m-Desktop-Masters-Class-Notes---Review-1st-Year-Pattern-Recognition-Systems/3d956fe8-3803-4740-9b99-087bcc38d79c/scratchpad/deck/first_deck/ppt/media/image5.png">    </p:cNvPr>
          <p:cNvPicPr>
            <a:picLocks noChangeAspect="1"/>
          </p:cNvPicPr>
          <p:nvPr/>
        </p:nvPicPr>
        <p:blipFill>
          <a:blip r:embed="rId6"/>
          <a:stretch>
            <a:fillRect/>
          </a:stretch>
        </p:blipFill>
        <p:spPr>
          <a:xfrm>
            <a:off x="6551676" y="4978908"/>
            <a:ext cx="384048" cy="384048"/>
          </a:xfrm>
          <a:prstGeom prst="rect">
            <a:avLst/>
          </a:prstGeom>
        </p:spPr>
      </p:pic>
      <p:sp>
        <p:nvSpPr>
          <p:cNvPr id="32" name="Text 23"/>
          <p:cNvSpPr txBox="1"/>
          <p:nvPr/>
        </p:nvSpPr>
        <p:spPr>
          <a:xfrm>
            <a:off x="7269480" y="4645152"/>
            <a:ext cx="4160520" cy="365760"/>
          </a:xfrm>
          <a:prstGeom prst="rect">
            <a:avLst/>
          </a:prstGeom>
          <a:noFill/>
          <a:ln/>
        </p:spPr>
        <p:txBody>
          <a:bodyPr wrap="square" lIns="0" tIns="0" rIns="0" bIns="0" rtlCol="0" anchor="t"/>
          <a:lstStyle/>
          <a:p>
            <a:pPr indent="0" marL="0">
              <a:buNone/>
            </a:pPr>
            <a:r>
              <a:rPr lang="en-US" sz="1600" b="1" dirty="0">
                <a:solidFill>
                  <a:srgbClr val="2C5F2D"/>
                </a:solidFill>
                <a:latin typeface="Calibri" pitchFamily="34" charset="0"/>
                <a:ea typeface="Calibri" pitchFamily="34" charset="-122"/>
                <a:cs typeface="Calibri" pitchFamily="34" charset="-120"/>
              </a:rPr>
              <a:t>No CITES ground truth</a:t>
            </a:r>
            <a:endParaRPr lang="en-US" sz="1600" dirty="0"/>
          </a:p>
        </p:txBody>
      </p:sp>
      <p:sp>
        <p:nvSpPr>
          <p:cNvPr id="33" name="Text 24"/>
          <p:cNvSpPr txBox="1"/>
          <p:nvPr/>
        </p:nvSpPr>
        <p:spPr>
          <a:xfrm>
            <a:off x="7269480" y="5029200"/>
            <a:ext cx="4206240" cy="777240"/>
          </a:xfrm>
          <a:prstGeom prst="rect">
            <a:avLst/>
          </a:prstGeom>
          <a:noFill/>
          <a:ln/>
        </p:spPr>
        <p:txBody>
          <a:bodyPr wrap="square" lIns="0" tIns="0" rIns="0" bIns="0" rtlCol="0" anchor="t"/>
          <a:lstStyle/>
          <a:p>
            <a:pPr indent="0" marL="0">
              <a:buNone/>
            </a:pPr>
            <a:r>
              <a:rPr lang="en-US" sz="1300" dirty="0">
                <a:solidFill>
                  <a:srgbClr val="445645"/>
                </a:solidFill>
                <a:latin typeface="Calibri" pitchFamily="34" charset="0"/>
                <a:ea typeface="Calibri" pitchFamily="34" charset="-122"/>
                <a:cs typeface="Calibri" pitchFamily="34" charset="-120"/>
              </a:rPr>
              <a:t>Validation there is directional (UNODC, confiscated-specimen proxy), not accuracy</a:t>
            </a:r>
            <a:endParaRPr lang="en-US" sz="1300" dirty="0"/>
          </a:p>
        </p:txBody>
      </p:sp>
      <p:sp>
        <p:nvSpPr>
          <p:cNvPr id="25" name="Slide Number Placeholder 0"/>
          <p:cNvSpPr>
            <a:spLocks noGrp="1"/>
          </p:cNvSpPr>
          <p:nvPr>
            <p:ph type="sldNum" sz="quarter" idx="4294967295"/>
          </p:nvPr>
        </p:nvSpPr>
        <p:spPr>
          <a:xfrm>
            <a:off x="11323015"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7F6F"/>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85800" y="548640"/>
            <a:ext cx="10515600" cy="7315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What WildGuard shows</a:t>
            </a:r>
            <a:endParaRPr lang="en-US" sz="3400" dirty="0"/>
          </a:p>
        </p:txBody>
      </p:sp>
      <p:sp>
        <p:nvSpPr>
          <p:cNvPr id="3" name="Text 1"/>
          <p:cNvSpPr txBox="1"/>
          <p:nvPr/>
        </p:nvSpPr>
        <p:spPr>
          <a:xfrm>
            <a:off x="685800" y="1463040"/>
            <a:ext cx="10789920" cy="274320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FFFFFF"/>
                </a:solidFill>
                <a:latin typeface="Calibri" pitchFamily="34" charset="0"/>
                <a:ea typeface="Calibri" pitchFamily="34" charset="-122"/>
                <a:cs typeface="Calibri" pitchFamily="34" charset="-120"/>
              </a:rPr>
              <a:t>Enforcement knowledge transfers: inspecting 5% of held-out shipments catches 70% of real cases, using only CITES-compatible fields</a:t>
            </a:r>
            <a:endParaRPr lang="en-US" sz="1700" dirty="0"/>
          </a:p>
          <a:p>
            <a:pPr marL="342900" indent="-342900">
              <a:spcAft>
                <a:spcPts val="1200"/>
              </a:spcAft>
              <a:buSzPct val="100000"/>
              <a:buChar char="•"/>
            </a:pPr>
            <a:r>
              <a:rPr lang="en-US" sz="1700" dirty="0">
                <a:solidFill>
                  <a:srgbClr val="FFFFFF"/>
                </a:solidFill>
                <a:latin typeface="Calibri" pitchFamily="34" charset="0"/>
                <a:ea typeface="Calibri" pitchFamily="34" charset="-122"/>
                <a:cs typeface="Calibri" pitchFamily="34" charset="-120"/>
              </a:rPr>
              <a:t>Hybrid &gt; supervised &gt; unsupervised &gt; listing rule &gt; random - pattern recognition beats the obvious manual heuristic by a wide margin</a:t>
            </a:r>
            <a:endParaRPr lang="en-US" sz="1700" dirty="0"/>
          </a:p>
          <a:p>
            <a:pPr marL="342900" indent="-342900">
              <a:spcAft>
                <a:spcPts val="1200"/>
              </a:spcAft>
              <a:buSzPct val="100000"/>
              <a:buChar char="•"/>
            </a:pPr>
            <a:r>
              <a:rPr lang="en-US" sz="1700" dirty="0">
                <a:solidFill>
                  <a:srgbClr val="FFFFFF"/>
                </a:solidFill>
                <a:latin typeface="Calibri" pitchFamily="34" charset="0"/>
                <a:ea typeface="Calibri" pitchFamily="34" charset="-122"/>
                <a:cs typeface="Calibri" pitchFamily="34" charset="-120"/>
              </a:rPr>
              <a:t>Schema alignment is the enabling step: two public datasets, one shared language, verified with a domain classifier</a:t>
            </a:r>
            <a:endParaRPr lang="en-US" sz="1700" dirty="0"/>
          </a:p>
          <a:p>
            <a:pPr marL="342900" indent="-342900">
              <a:spcAft>
                <a:spcPts val="1200"/>
              </a:spcAft>
              <a:buSzPct val="100000"/>
              <a:buChar char="•"/>
            </a:pPr>
            <a:r>
              <a:rPr lang="en-US" sz="1700" dirty="0">
                <a:solidFill>
                  <a:srgbClr val="FFFFFF"/>
                </a:solidFill>
                <a:latin typeface="Calibri" pitchFamily="34" charset="0"/>
                <a:ea typeface="Calibri" pitchFamily="34" charset="-122"/>
                <a:cs typeface="Calibri" pitchFamily="34" charset="-120"/>
              </a:rPr>
              <a:t>On CITES the ranking is directionally consistent with independent seizure statistics - a triage aid, not a verdict</a:t>
            </a:r>
            <a:endParaRPr lang="en-US" sz="1700" dirty="0"/>
          </a:p>
        </p:txBody>
      </p:sp>
      <p:sp>
        <p:nvSpPr>
          <p:cNvPr id="4" name="Text 2"/>
          <p:cNvSpPr txBox="1"/>
          <p:nvPr/>
        </p:nvSpPr>
        <p:spPr>
          <a:xfrm>
            <a:off x="685800" y="4343400"/>
            <a:ext cx="10515600" cy="457200"/>
          </a:xfrm>
          <a:prstGeom prst="rect">
            <a:avLst/>
          </a:prstGeom>
          <a:noFill/>
          <a:ln/>
        </p:spPr>
        <p:txBody>
          <a:bodyPr wrap="square" lIns="0" tIns="0" rIns="0" bIns="0" rtlCol="0" anchor="t"/>
          <a:lstStyle/>
          <a:p>
            <a:pPr indent="0" marL="0">
              <a:buNone/>
            </a:pPr>
            <a:r>
              <a:rPr lang="en-US" sz="2000" b="1" dirty="0">
                <a:solidFill>
                  <a:srgbClr val="CFE0B8"/>
                </a:solidFill>
                <a:latin typeface="Cambria" pitchFamily="34" charset="0"/>
                <a:ea typeface="Cambria" pitchFamily="34" charset="-122"/>
                <a:cs typeface="Cambria" pitchFamily="34" charset="-120"/>
              </a:rPr>
              <a:t>Next steps</a:t>
            </a:r>
            <a:endParaRPr lang="en-US" sz="2000" dirty="0"/>
          </a:p>
        </p:txBody>
      </p:sp>
      <p:sp>
        <p:nvSpPr>
          <p:cNvPr id="5" name="Text 3"/>
          <p:cNvSpPr txBox="1"/>
          <p:nvPr/>
        </p:nvSpPr>
        <p:spPr>
          <a:xfrm>
            <a:off x="685800" y="4846320"/>
            <a:ext cx="10789920" cy="14630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E7F0E1"/>
                </a:solidFill>
                <a:latin typeface="Calibri" pitchFamily="34" charset="0"/>
                <a:ea typeface="Calibri" pitchFamily="34" charset="-122"/>
                <a:cs typeface="Calibri" pitchFamily="34" charset="-120"/>
              </a:rPr>
              <a:t>Small labelled samples from a CITES authority (few-shot adaptation)</a:t>
            </a:r>
            <a:endParaRPr lang="en-US" sz="1500" dirty="0"/>
          </a:p>
          <a:p>
            <a:pPr marL="342900" indent="-342900">
              <a:spcAft>
                <a:spcPts val="600"/>
              </a:spcAft>
              <a:buSzPct val="100000"/>
              <a:buChar char="•"/>
            </a:pPr>
            <a:r>
              <a:rPr lang="en-US" sz="1500" dirty="0">
                <a:solidFill>
                  <a:srgbClr val="E7F0E1"/>
                </a:solidFill>
                <a:latin typeface="Calibri" pitchFamily="34" charset="0"/>
                <a:ea typeface="Calibri" pitchFamily="34" charset="-122"/>
                <a:cs typeface="Calibri" pitchFamily="34" charset="-120"/>
              </a:rPr>
              <a:t>LEMIS 2015+ via new FOIA releases</a:t>
            </a:r>
            <a:endParaRPr lang="en-US" sz="1500" dirty="0"/>
          </a:p>
          <a:p>
            <a:pPr marL="342900" indent="-342900">
              <a:spcAft>
                <a:spcPts val="600"/>
              </a:spcAft>
              <a:buSzPct val="100000"/>
              <a:buChar char="•"/>
            </a:pPr>
            <a:r>
              <a:rPr lang="en-US" sz="1500" dirty="0">
                <a:solidFill>
                  <a:srgbClr val="E7F0E1"/>
                </a:solidFill>
                <a:latin typeface="Calibri" pitchFamily="34" charset="0"/>
                <a:ea typeface="Calibri" pitchFamily="34" charset="-122"/>
                <a:cs typeface="Calibri" pitchFamily="34" charset="-120"/>
              </a:rPr>
              <a:t>Importer/exporter reporting mismatches as an extra signal</a:t>
            </a:r>
            <a:endParaRPr lang="en-US" sz="1500" dirty="0"/>
          </a:p>
          <a:p>
            <a:pPr marL="342900" indent="-342900">
              <a:spcAft>
                <a:spcPts val="600"/>
              </a:spcAft>
              <a:buSzPct val="100000"/>
              <a:buChar char="•"/>
            </a:pPr>
            <a:r>
              <a:rPr lang="en-US" sz="1500" dirty="0">
                <a:solidFill>
                  <a:srgbClr val="E7F0E1"/>
                </a:solidFill>
                <a:latin typeface="Calibri" pitchFamily="34" charset="0"/>
                <a:ea typeface="Calibri" pitchFamily="34" charset="-122"/>
                <a:cs typeface="Calibri" pitchFamily="34" charset="-120"/>
              </a:rPr>
              <a:t>Analyst feedback loop to retrain on reviewed flags</a:t>
            </a:r>
            <a:endParaRPr lang="en-US" sz="1500" dirty="0"/>
          </a:p>
        </p:txBody>
      </p:sp>
    </p:spTree>
  </p:cSld>
  <p:clrMapOvr>
    <a:masterClrMapping/>
  </p:clrMapOvr>
</p:sld>
</file>

<file path=ppt/theme/theme1.xml><?xml version="1.0" encoding="utf-8"?>
<a:theme xmlns:a="http://schemas.openxmlformats.org/drawingml/2006/main" name="WildGuard">
  <a:themeElements>
    <a:clrScheme name="WildGuard">
      <a:dk1>
        <a:srgbClr val="1A2E1B"/>
      </a:dk1>
      <a:lt1>
        <a:srgbClr val="FFFFFF"/>
      </a:lt1>
      <a:dk2>
        <a:srgbClr val="2C5F2D"/>
      </a:dk2>
      <a:lt2>
        <a:srgbClr val="E7F0E1"/>
      </a:lt2>
      <a:accent1>
        <a:srgbClr val="2C5F2D"/>
      </a:accent1>
      <a:accent2>
        <a:srgbClr val="97BC62"/>
      </a:accent2>
      <a:accent3>
        <a:srgbClr val="B5651D"/>
      </a:accent3>
      <a:accent4>
        <a:srgbClr val="445645"/>
      </a:accent4>
      <a:accent5>
        <a:srgbClr val="DCE7D2"/>
      </a:accent5>
      <a:accent6>
        <a:srgbClr val="6E7F6F"/>
      </a:accent6>
      <a:hlink>
        <a:srgbClr val="2C5F2D"/>
      </a:hlink>
      <a:folHlink>
        <a:srgbClr val="445645"/>
      </a:folHlink>
    </a:clrScheme>
    <a:fontScheme name="WildGuar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WildGuard - Final Presentation</dc:title>
  <dc:subject>PptxGenJS Presentation</dc:subject>
  <dc:creator>Group 37</dc:creator>
  <cp:lastModifiedBy>Group 37</cp:lastModifiedBy>
  <cp:revision>1</cp:revision>
  <dcterms:created xsi:type="dcterms:W3CDTF">2026-10-27T09:08:50Z</dcterms:created>
  <dcterms:modified xsi:type="dcterms:W3CDTF">2026-10-27T09:08:50Z</dcterms:modified>
</cp:coreProperties>
</file>